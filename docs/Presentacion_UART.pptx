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8c7be5257c496d" /><Relationship Type="http://schemas.openxmlformats.org/officeDocument/2006/relationships/extended-properties" Target="/docProps/app.xml" Id="R43b56c4853694fe7" /><Relationship Type="http://schemas.openxmlformats.org/officeDocument/2006/relationships/officeDocument" Target="/ppt/presentation.xml" Id="Rd783f224d9b74bd3" /></Relationships>
</file>

<file path=ppt/presentation.xml><?xml version="1.0" encoding="utf-8"?>
<p:presentation xmlns:p="http://schemas.openxmlformats.org/presentationml/2006/main">
  <p:sldMasterIdLst>
    <p:sldMasterId xmlns:r="http://schemas.openxmlformats.org/officeDocument/2006/relationships" id="2147483648" r:id="Rbb06b7dec59e4c0a"/>
  </p:sldMasterIdLst>
  <p:notesMasterIdLst>
    <p:notesMasterId xmlns:r="http://schemas.openxmlformats.org/officeDocument/2006/relationships" r:id="R85d37cf3720e4b0e"/>
  </p:notesMasterIdLst>
  <p:sldIdLst>
    <p:sldId xmlns:r="http://schemas.openxmlformats.org/officeDocument/2006/relationships" id="256" r:id="Rc1231ab4d3ba46e8"/>
    <p:sldId xmlns:r="http://schemas.openxmlformats.org/officeDocument/2006/relationships" id="257" r:id="R9a9bbb8087904ab4"/>
    <p:sldId xmlns:r="http://schemas.openxmlformats.org/officeDocument/2006/relationships" id="258" r:id="R3f8c52c2ad9c4fb2"/>
    <p:sldId xmlns:r="http://schemas.openxmlformats.org/officeDocument/2006/relationships" id="259" r:id="R890cd26247d44eea"/>
    <p:sldId xmlns:r="http://schemas.openxmlformats.org/officeDocument/2006/relationships" id="260" r:id="R37d5d25284b147b7"/>
    <p:sldId xmlns:r="http://schemas.openxmlformats.org/officeDocument/2006/relationships" id="261" r:id="R69f964937aa04886"/>
    <p:sldId xmlns:r="http://schemas.openxmlformats.org/officeDocument/2006/relationships" id="262" r:id="Rc209fd69d2cd4bca"/>
    <p:sldId xmlns:r="http://schemas.openxmlformats.org/officeDocument/2006/relationships" id="263" r:id="R21de1bce620949c5"/>
    <p:sldId xmlns:r="http://schemas.openxmlformats.org/officeDocument/2006/relationships" id="264" r:id="Rea84fbf3c3f143fc"/>
    <p:sldId xmlns:r="http://schemas.openxmlformats.org/officeDocument/2006/relationships" id="265" r:id="R51ff3e8d63ac441a"/>
    <p:sldId xmlns:r="http://schemas.openxmlformats.org/officeDocument/2006/relationships" id="266" r:id="Re646cb8db34f474c"/>
    <p:sldId xmlns:r="http://schemas.openxmlformats.org/officeDocument/2006/relationships" id="267" r:id="Rf51cd8526b0c405f"/>
    <p:sldId xmlns:r="http://schemas.openxmlformats.org/officeDocument/2006/relationships" id="268" r:id="Rf7045230b17d4e29"/>
    <p:sldId xmlns:r="http://schemas.openxmlformats.org/officeDocument/2006/relationships" id="269" r:id="R9ae2c7936d9542bf"/>
    <p:sldId xmlns:r="http://schemas.openxmlformats.org/officeDocument/2006/relationships" id="270" r:id="R7269ff718ec84871"/>
    <p:sldId xmlns:r="http://schemas.openxmlformats.org/officeDocument/2006/relationships" id="271" r:id="R5c3673cb8bf24ddd"/>
    <p:sldId xmlns:r="http://schemas.openxmlformats.org/officeDocument/2006/relationships" id="272" r:id="R327b9ba417c54cc5"/>
    <p:sldId xmlns:r="http://schemas.openxmlformats.org/officeDocument/2006/relationships" id="273" r:id="Re52c4d8bbe1d44ab"/>
    <p:sldId xmlns:r="http://schemas.openxmlformats.org/officeDocument/2006/relationships" id="274" r:id="R270cc9e70a3f47ae"/>
    <p:sldId xmlns:r="http://schemas.openxmlformats.org/officeDocument/2006/relationships" id="275" r:id="R9f592f07a79e4a26"/>
    <p:sldId xmlns:r="http://schemas.openxmlformats.org/officeDocument/2006/relationships" id="276" r:id="Rf7e7e48c51034021"/>
    <p:sldId xmlns:r="http://schemas.openxmlformats.org/officeDocument/2006/relationships" id="277" r:id="R946d2a77e8664e4f"/>
    <p:sldId xmlns:r="http://schemas.openxmlformats.org/officeDocument/2006/relationships" id="278" r:id="R01d99721382d4a47"/>
    <p:sldId xmlns:r="http://schemas.openxmlformats.org/officeDocument/2006/relationships" id="279" r:id="R66c10334d6bf48fd"/>
    <p:sldId xmlns:r="http://schemas.openxmlformats.org/officeDocument/2006/relationships" id="280" r:id="Rc175e068e4204933"/>
    <p:sldId xmlns:r="http://schemas.openxmlformats.org/officeDocument/2006/relationships" id="281" r:id="Rd96b463fa6ce4938"/>
    <p:sldId xmlns:r="http://schemas.openxmlformats.org/officeDocument/2006/relationships" id="282" r:id="Rb1deeb68a6604859"/>
    <p:sldId xmlns:r="http://schemas.openxmlformats.org/officeDocument/2006/relationships" id="283" r:id="R32cc65d8589c41e5"/>
    <p:sldId xmlns:r="http://schemas.openxmlformats.org/officeDocument/2006/relationships" id="284" r:id="Rd19c9d0f008545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614d13d97c4cec" /><Relationship Type="http://schemas.openxmlformats.org/officeDocument/2006/relationships/slideMaster" Target="/ppt/slideMasters/slideMaster1.xml" Id="Rbb06b7dec59e4c0a" /><Relationship Type="http://schemas.openxmlformats.org/officeDocument/2006/relationships/notesMaster" Target="/ppt/notesMasters/notesMaster1.xml" Id="R85d37cf3720e4b0e" /><Relationship Type="http://schemas.openxmlformats.org/officeDocument/2006/relationships/presProps" Target="/ppt/presProps.xml" Id="R305ed9f360d14596" /><Relationship Type="http://schemas.openxmlformats.org/officeDocument/2006/relationships/tableStyles" Target="/ppt/tableStyles.xml" Id="R13a682ffddc34f9f" /><Relationship Type="http://schemas.openxmlformats.org/officeDocument/2006/relationships/slide" Target="/ppt/slides/slide1.xml" Id="Rc1231ab4d3ba46e8" /><Relationship Type="http://schemas.openxmlformats.org/officeDocument/2006/relationships/slide" Target="/ppt/slides/slide2.xml" Id="R9a9bbb8087904ab4" /><Relationship Type="http://schemas.openxmlformats.org/officeDocument/2006/relationships/slide" Target="/ppt/slides/slide3.xml" Id="R3f8c52c2ad9c4fb2" /><Relationship Type="http://schemas.openxmlformats.org/officeDocument/2006/relationships/slide" Target="/ppt/slides/slide4.xml" Id="R890cd26247d44eea" /><Relationship Type="http://schemas.openxmlformats.org/officeDocument/2006/relationships/slide" Target="/ppt/slides/slide5.xml" Id="R37d5d25284b147b7" /><Relationship Type="http://schemas.openxmlformats.org/officeDocument/2006/relationships/slide" Target="/ppt/slides/slide6.xml" Id="R69f964937aa04886" /><Relationship Type="http://schemas.openxmlformats.org/officeDocument/2006/relationships/slide" Target="/ppt/slides/slide7.xml" Id="Rc209fd69d2cd4bca" /><Relationship Type="http://schemas.openxmlformats.org/officeDocument/2006/relationships/slide" Target="/ppt/slides/slide8.xml" Id="R21de1bce620949c5" /><Relationship Type="http://schemas.openxmlformats.org/officeDocument/2006/relationships/slide" Target="/ppt/slides/slide9.xml" Id="Rea84fbf3c3f143fc" /><Relationship Type="http://schemas.openxmlformats.org/officeDocument/2006/relationships/slide" Target="/ppt/slides/slide10.xml" Id="R51ff3e8d63ac441a" /><Relationship Type="http://schemas.openxmlformats.org/officeDocument/2006/relationships/slide" Target="/ppt/slides/slide11.xml" Id="Re646cb8db34f474c" /><Relationship Type="http://schemas.openxmlformats.org/officeDocument/2006/relationships/slide" Target="/ppt/slides/slide12.xml" Id="Rf51cd8526b0c405f" /><Relationship Type="http://schemas.openxmlformats.org/officeDocument/2006/relationships/slide" Target="/ppt/slides/slide13.xml" Id="Rf7045230b17d4e29" /><Relationship Type="http://schemas.openxmlformats.org/officeDocument/2006/relationships/slide" Target="/ppt/slides/slide14.xml" Id="R9ae2c7936d9542bf" /><Relationship Type="http://schemas.openxmlformats.org/officeDocument/2006/relationships/slide" Target="/ppt/slides/slide15.xml" Id="R7269ff718ec84871" /><Relationship Type="http://schemas.openxmlformats.org/officeDocument/2006/relationships/slide" Target="/ppt/slides/slide16.xml" Id="R5c3673cb8bf24ddd" /><Relationship Type="http://schemas.openxmlformats.org/officeDocument/2006/relationships/slide" Target="/ppt/slides/slide17.xml" Id="R327b9ba417c54cc5" /><Relationship Type="http://schemas.openxmlformats.org/officeDocument/2006/relationships/slide" Target="/ppt/slides/slide18.xml" Id="Re52c4d8bbe1d44ab" /><Relationship Type="http://schemas.openxmlformats.org/officeDocument/2006/relationships/slide" Target="/ppt/slides/slide19.xml" Id="R270cc9e70a3f47ae" /><Relationship Type="http://schemas.openxmlformats.org/officeDocument/2006/relationships/slide" Target="/ppt/slides/slide20.xml" Id="R9f592f07a79e4a26" /><Relationship Type="http://schemas.openxmlformats.org/officeDocument/2006/relationships/slide" Target="/ppt/slides/slide21.xml" Id="Rf7e7e48c51034021" /><Relationship Type="http://schemas.openxmlformats.org/officeDocument/2006/relationships/slide" Target="/ppt/slides/slide22.xml" Id="R946d2a77e8664e4f" /><Relationship Type="http://schemas.openxmlformats.org/officeDocument/2006/relationships/slide" Target="/ppt/slides/slide23.xml" Id="R01d99721382d4a47" /><Relationship Type="http://schemas.openxmlformats.org/officeDocument/2006/relationships/slide" Target="/ppt/slides/slide24.xml" Id="R66c10334d6bf48fd" /><Relationship Type="http://schemas.openxmlformats.org/officeDocument/2006/relationships/slide" Target="/ppt/slides/slide25.xml" Id="Rc175e068e4204933" /><Relationship Type="http://schemas.openxmlformats.org/officeDocument/2006/relationships/slide" Target="/ppt/slides/slide26.xml" Id="Rd96b463fa6ce4938" /><Relationship Type="http://schemas.openxmlformats.org/officeDocument/2006/relationships/slide" Target="/ppt/slides/slide27.xml" Id="Rb1deeb68a6604859" /><Relationship Type="http://schemas.openxmlformats.org/officeDocument/2006/relationships/slide" Target="/ppt/slides/slide28.xml" Id="R32cc65d8589c41e5" /><Relationship Type="http://schemas.openxmlformats.org/officeDocument/2006/relationships/slide" Target="/ppt/slides/slide29.xml" Id="Rd19c9d0f008545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83ba38981545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03f6c746ed4210" /><Relationship Type="http://schemas.openxmlformats.org/officeDocument/2006/relationships/notesMaster" Target="/ppt/notesMasters/notesMaster1.xml" Id="Ra9bb5cf281d841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6e814ea603454c" /><Relationship Type="http://schemas.openxmlformats.org/officeDocument/2006/relationships/notesMaster" Target="/ppt/notesMasters/notesMaster1.xml" Id="R1366f3138a9c44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cdf498fe0e42de" /><Relationship Type="http://schemas.openxmlformats.org/officeDocument/2006/relationships/notesMaster" Target="/ppt/notesMasters/notesMaster1.xml" Id="Rf586f310d1de49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8ef5d6bad5432e" /><Relationship Type="http://schemas.openxmlformats.org/officeDocument/2006/relationships/notesMaster" Target="/ppt/notesMasters/notesMaster1.xml" Id="R6d1b6db0fd544a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9e277bc24c433c" /><Relationship Type="http://schemas.openxmlformats.org/officeDocument/2006/relationships/notesMaster" Target="/ppt/notesMasters/notesMaster1.xml" Id="R00cd5187fe0e48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3cd44732bf4750" /><Relationship Type="http://schemas.openxmlformats.org/officeDocument/2006/relationships/notesMaster" Target="/ppt/notesMasters/notesMaster1.xml" Id="R4a99543194cd48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40f9c1af3c4ad1" /><Relationship Type="http://schemas.openxmlformats.org/officeDocument/2006/relationships/notesMaster" Target="/ppt/notesMasters/notesMaster1.xml" Id="R60c046cc692041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87a679bf7e45c2" /><Relationship Type="http://schemas.openxmlformats.org/officeDocument/2006/relationships/notesMaster" Target="/ppt/notesMasters/notesMaster1.xml" Id="Rd79f008cb87146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9ae9e3892b41b2" /><Relationship Type="http://schemas.openxmlformats.org/officeDocument/2006/relationships/notesMaster" Target="/ppt/notesMasters/notesMaster1.xml" Id="R65922ee7d53c4c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0f853369dd42d0" /><Relationship Type="http://schemas.openxmlformats.org/officeDocument/2006/relationships/notesMaster" Target="/ppt/notesMasters/notesMaster1.xml" Id="R94e4afe351d940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443ff8c2994621" /><Relationship Type="http://schemas.openxmlformats.org/officeDocument/2006/relationships/notesMaster" Target="/ppt/notesMasters/notesMaster1.xml" Id="Rcf0774609fc74b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61b4e7952b4aae" /><Relationship Type="http://schemas.openxmlformats.org/officeDocument/2006/relationships/notesMaster" Target="/ppt/notesMasters/notesMaster1.xml" Id="Rbebf11f4f53044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af0919388504479" /><Relationship Type="http://schemas.openxmlformats.org/officeDocument/2006/relationships/notesMaster" Target="/ppt/notesMasters/notesMaster1.xml" Id="Rdf241c00937c4a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08b46559d44878" /><Relationship Type="http://schemas.openxmlformats.org/officeDocument/2006/relationships/notesMaster" Target="/ppt/notesMasters/notesMaster1.xml" Id="R8d95355294f641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3a6c03ceb849e0" /><Relationship Type="http://schemas.openxmlformats.org/officeDocument/2006/relationships/notesMaster" Target="/ppt/notesMasters/notesMaster1.xml" Id="Re31832321d2d4f5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1d7d46070c4035" /><Relationship Type="http://schemas.openxmlformats.org/officeDocument/2006/relationships/notesMaster" Target="/ppt/notesMasters/notesMaster1.xml" Id="R4339c3762deb4a5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2c98f8cefb44d6" /><Relationship Type="http://schemas.openxmlformats.org/officeDocument/2006/relationships/notesMaster" Target="/ppt/notesMasters/notesMaster1.xml" Id="R8fb19ee2cb9f41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5f3a579843483d" /><Relationship Type="http://schemas.openxmlformats.org/officeDocument/2006/relationships/notesMaster" Target="/ppt/notesMasters/notesMaster1.xml" Id="Rb5eb61c483f647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8ac727001d48d9" /><Relationship Type="http://schemas.openxmlformats.org/officeDocument/2006/relationships/notesMaster" Target="/ppt/notesMasters/notesMaster1.xml" Id="R63046f4971934a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b7c834104a487b" /><Relationship Type="http://schemas.openxmlformats.org/officeDocument/2006/relationships/notesMaster" Target="/ppt/notesMasters/notesMaster1.xml" Id="Rf6f118da5f57432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01cba590f1447a" /><Relationship Type="http://schemas.openxmlformats.org/officeDocument/2006/relationships/notesMaster" Target="/ppt/notesMasters/notesMaster1.xml" Id="Raafdb5ed040245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4e48cfff924074" /><Relationship Type="http://schemas.openxmlformats.org/officeDocument/2006/relationships/notesMaster" Target="/ppt/notesMasters/notesMaster1.xml" Id="Rd50f5aad048c4a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ba939200aa46fc" /><Relationship Type="http://schemas.openxmlformats.org/officeDocument/2006/relationships/notesMaster" Target="/ppt/notesMasters/notesMaster1.xml" Id="R87c8ab6e58014a3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348ab98eae4861" /><Relationship Type="http://schemas.openxmlformats.org/officeDocument/2006/relationships/notesMaster" Target="/ppt/notesMasters/notesMaster1.xml" Id="Rbf4c793e5ac6402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fee9d22e434752" /><Relationship Type="http://schemas.openxmlformats.org/officeDocument/2006/relationships/notesMaster" Target="/ppt/notesMasters/notesMaster1.xml" Id="R8f7f46cca14a451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74feee2c9b74545" /><Relationship Type="http://schemas.openxmlformats.org/officeDocument/2006/relationships/notesMaster" Target="/ppt/notesMasters/notesMaster1.xml" Id="Rcfb8568b446149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4a455e92b644a1e" /><Relationship Type="http://schemas.openxmlformats.org/officeDocument/2006/relationships/notesMaster" Target="/ppt/notesMasters/notesMaster1.xml" Id="Re8ebdb3a4bc946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c351f725dec4f0e" /><Relationship Type="http://schemas.openxmlformats.org/officeDocument/2006/relationships/notesMaster" Target="/ppt/notesMasters/notesMaster1.xml" Id="Radce648fc4f64f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407d54d940f4136" /><Relationship Type="http://schemas.openxmlformats.org/officeDocument/2006/relationships/notesMaster" Target="/ppt/notesMasters/notesMaster1.xml" Id="R4992e860182244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 minutos.</a:t>
            </a:r>
          </a:p>
          <a:p xmlns:a="http://schemas.openxmlformats.org/drawingml/2006/main">
            <a:r>
              <a:t>Presentarnos y mostrar el montaje. Explicar que la computadora enviará órdenes a la Pico y recibirá una respuesta por una interfaz RS-232 real. El USB de la Pico solo sirve para cargar y alimentar. Indicar que el código proviene del monitor del curso y que conservamos sus comandos.</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Dar el ejemplo de un instrumento de laboratorio que recibe una orden de consulta. Explicar que podemos ver el comando, el procesamiento y la respuesta. Pedir al grupo que identifique qué parte genera los bits y cuál transforma los niveles eléctricos.</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Explicar asíncrono: no se comparte una línea de reloj. El receptor usa el flanco de inicio y su propio reloj. Una UART transmite información binaria; los comandos ASCII son una elección del software. UART no sabe qué significa on o rs232.</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 minutos.</a:t>
            </a:r>
          </a:p>
          <a:p xmlns:a="http://schemas.openxmlformats.org/drawingml/2006/main">
            <a:r>
              <a:t>Aclarar que USB–VGA sirve para video. Mostrar el número de contactos y la etiqueta del adaptador real. Un USB–TTL permitiría UART lógico, pero evitaría el tramo RS-232 solicitado. Nunca conectar la señal bipolar RS-232 directamente al GPIO.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Describir la evolución sin confundir el transceptor eléctrico con el controlador UART. Antes se utilizaban circuitos de interfaz separados y lógica de control. La integración reduce componentes y libera trabajo de la CPU frente a generar cada bit por software. La interoperabilidad eléctrica sigue requiriendo un transceptor externo cuando se utiliza RS-232.</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Relacionar cada mejora con un problema: compatibilidad, fuentes de alimentación y carga de CPU. MAX3232 integra drivers y receptores con una bomba de carga. No afirmar que cualquier versión alcanza la misma velocidad máxima. Nuestra configuración conservadora es9600 baud.</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Distinguir aplicaciones UART a nivel lógico de instrumentos que sí llevan transceptor RS-232. Explicar por qué una interfaz simple todavía resulta útil para puesta en marcha, mantenimiento y comandos pequeños aunque existan USB o Ethernet. Preguntar qué ocurriría si conectáramos un módulo GNSS lógico a niveles RS-232.</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2 minutos.</a:t>
            </a:r>
          </a:p>
          <a:p xmlns:a="http://schemas.openxmlformats.org/drawingml/2006/main">
            <a:r>
              <a:t>Seguir un byte desde DR hasta el pin TX y de regreso por RX. Hay dos UART en ambas plataformas y FIFO de32 entradas. Diferenciar baud del reloj CPU. Los registros de control configuran el bloque; el dato se mueve por DR. Apoyarse en el diagrama de arquitectura incluido.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2 minutos.</a:t>
            </a:r>
          </a:p>
          <a:p xmlns:a="http://schemas.openxmlformats.org/drawingml/2006/main">
            <a:r>
              <a:t>Dibujar o seguir la trama del carácter A, hexadecimal41. Los datos transmitidos son1,0,0,0,0,0,1,0 después del inicio. Contar10 bits por carácter: inicio, ocho datos y stop. El resultado de960 bytes/s es el máximo teórico sin pausas, no una medición. MAX3232 invierte el nivel eléctrico del dibujo.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Explicar que más stop o paridad añaden bits a la trama y cambian rendimiento. Mostrar que PC y Pico deben coincidir. FIFO amortigua ráfagas, no evita pérdidas ilimitadamente. No usamos IRQ UART ni DMA, pero conservamos la IRQ del temporizador del código base. El baud se cambia en código y en la terminal, no con un comando dinámico.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Localizar UART0_BASE en los headers del SDK correspondientes a cada chip. Explicar hexadecimal y por qué base no es el valor almacenado en el registro. El periférico responde a las transacciones sobre esa dirección. Pedir al grupo la dirección de FR usando offset18 hexadecimal.</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Recorrer cada fila y distinguir registro de datos, estado y control. Leer DR retira un dato de la FIFO. FR puede consultarse repetidamente. TXFF indica FIFO llena; BUSY indica actividad de transmisión. Por eso no se debe resetear apenas TXFF baja. El mapa completo con direcciones de ambas plataformas está en REGISTROS.md.</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 minutos.</a:t>
            </a:r>
          </a:p>
          <a:p xmlns:a="http://schemas.openxmlformats.org/drawingml/2006/main">
            <a:r>
              <a:t>Descomponer70 hexadecimal: bits6 y5 seleccionan ocho datos, bit4 habilita FIFO. Descomponer301 hexadecimal: bits9,8 y0. Las máscaras IRQ están apagadas. ICR limpia eventos escribiendo unos y ECR limpia errores mediante escritura. No todos los registros se manipulan con la misma semántica.</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Explicar una parte a la vez: dirección calculada, conversión al tipo puntero, tamaño de32 bits y desreferenciación. volatile evita eliminar o reutilizar indebidamente accesos al hardware; no equivale a protección entre núcleos. Los desplazamientos producen máscaras y OR combina campos. Relacionar este ejemplo con REG y U en uart_link.c.</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Abrir link_init y recorrer la rama LINK_REGS. Las escrituras SET/CLR de RESET son atómicas y afectan solo UART0. clk_peri se consulta mediante SDK. Los divisores usan64 bits para evitar overflow. Aclarar el alcance: UART y reset son directos, pero arranque y multiplexor GPIO usan SDK en ambos modos.</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2 minutos.</a:t>
            </a:r>
          </a:p>
          <a:p xmlns:a="http://schemas.openxmlformats.org/drawingml/2006/main">
            <a:r>
              <a:t>Abrir la rama LINK_SDK. Explicar que uart_init hace reset y configura velocidad y habilitación. set_format expone parámetros legibles. El SDK resuelve diferencias entre chips con headers y funciones. No elimina la necesidad de comprender las conexiones. uart info permite comprobar que la configuración nominal coincide.</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Comparar las funciones de link_putc y link_getc en el código. En registros se observa FR y se accede a DR. En SDK se utilizan funciones bloqueantes. Aclarar que el contador de errores pertenece solo a regs, y que el camino SDK tiene una escritura directa a DMACR para deshabilitar DREQ. No ocultar esa excepción.</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Mostrar qué errores evita: copiar la base equivocada o la máscara de reset de otra plataforma. Señalar que el acceso directo ayuda a comprender y controlar campos concretos, pero requiere atención a reset, orden y bits reservados. Las dos variantes comparten el protocolo del REPL y el circuito, lo que permite compararlas.</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2 minutos.</a:t>
            </a:r>
          </a:p>
          <a:p xmlns:a="http://schemas.openxmlformats.org/drawingml/2006/main">
            <a:r>
              <a:t>Comparar las bases sin atribuir una ventaja de velocidad al cambio de dirección. Es un cambio de mapa. UART1 también se mueve. Las macros de compilación seleccionan el mapa correcto. Un binario para Pico RP2040 no se carga como si fuera el de Pico2W.</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Explicar por qué compartir código no sustituye las pruebas en ambas tarjetas. El reloj real lo informa uart info y puede variar según configuración. En ambas se usa LED externo GP15 para evitar confundir el LED inalámbrico de la Pico2W con GP25. El nombre de la IRQ del TIMER se selecciona por plataforma.</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1.5 minutos.</a:t>
            </a:r>
          </a:p>
          <a:p xmlns:a="http://schemas.openxmlformats.org/drawingml/2006/main">
            <a:r>
              <a:t>Resolver312.5 con el grupo y convertir0.5 a32/64. Advertir que48MHz es un ejemplo, no una promesa del reloj de arranque de todas las placas. Leer la frecuencia impresa en la demostración. Mostrar cómo el redondeo puede generar acarreo y por qué el cálculo d64 lo resuelve.</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Abrir main.c y mostrar las funciones heredadas junto a las nuevas. Explicar que los printf del monitor se redirigen a nuestra consola UART, y que stdio_init_all fue retirado. El TIMER deja de imprimir dentro de la ISR. El botón ahora usa pull-up y se pulsa a GND.</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2 minutos.</a:t>
            </a:r>
          </a:p>
          <a:p xmlns:a="http://schemas.openxmlformats.org/drawingml/2006/main">
            <a:r>
              <a:t>Escribir uart regs y explicar argc=2, argv[0]=uart y argv[1]=regs. Después rs232 hola desde la Pico produce argc=5. Comprobar que el comando exige texto y el backend exige un modo válido. Mostrar cómo se rechaza una línea larga para no ejecutar silenciosamente una orden recortada. Esperar al prompt después de cambiar modo.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1.5 minutos.</a:t>
            </a:r>
          </a:p>
          <a:p xmlns:a="http://schemas.openxmlformats.org/drawingml/2006/main">
            <a:r>
              <a:t>El eco de tecleo no basta para demostrar que se ejecutó el comando. La etiqueta RS232 la agrega cmd_rs232 después del parsing. Mostrar que TX y RX son independientes y permiten full duplex, aunque esta aplicación se use como petición y respuesta. Cerrar con la relación entre software y dispositivo externo.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2 minutos.</a:t>
            </a:r>
          </a:p>
          <a:p xmlns:a="http://schemas.openxmlformats.org/drawingml/2006/main">
            <a:r>
              <a:t>Identificar físicamente cada componente. Verificar señal y dirección, no solo etiquetas TX/RX. En un módulo con conector incorporado comprobar continuidad antes de decidir cable directo o cruce. Mostrar GND común y aclarar que no hay voltajes RS-232 conectados al GPIO.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2 minutos.</a:t>
            </a:r>
          </a:p>
          <a:p xmlns:a="http://schemas.openxmlformats.org/drawingml/2006/main">
            <a:r>
              <a:t>Ejecutar los comandos uno por uno sin pegar una ráfaga. Explicar base40070000 y registros70/301. Mostrar LED externo. Si algo falla, revisar puerto del adaptador, baud y cableado. Esta diapositiva describe la prueba prevista; el resultado real se documenta durante la sesión.</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2 minutos.</a:t>
            </a:r>
          </a:p>
          <a:p xmlns:a="http://schemas.openxmlformats.org/drawingml/2006/main">
            <a:r>
              <a:t>Usar la segunda placa cargada con su firmware. Leslie ejecuta y Ana explica, o viceversa. Si solo se dispone de Pico2W, declarar pendiente esta demostración: no presentar una compilación como evidencia eléctrica. Mostrar un argumento inválido y que el REPL sigue respondiendo.</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Leslie — 1 minutos.</a:t>
            </a:r>
          </a:p>
          <a:p xmlns:a="http://schemas.openxmlformats.org/drawingml/2006/main">
            <a:r>
              <a:t>Recapitular qué se pudo verificar realmente y qué falta. El polling sirve para una consola didáctica, pero un receptor continuo necesita planificar buffers y atención. La entrega incluye código, mapa, guía y plan de pruebas. Las fotos y resultados físicos deben corresponder al montaje real.</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 — 1 minutos.</a:t>
            </a:r>
          </a:p>
          <a:p xmlns:a="http://schemas.openxmlformats.org/drawingml/2006/main">
            <a:r>
              <a:t>Abrir REFERENCIAS.md para acceder a los enlaces completos. Enseñar que los valores salen de datasheets y headers específicos de cada plataforma. Ambas integrantes deben poder localizar DR, CR y la máscara de reset sin depender de memorizar toda la tabla.</a:t>
            </a:r>
          </a:p>
          <a:p xmlns:a="http://schemas.openxmlformats.org/drawingml/2006/main">
            <a:r>
              <a:t>Fuentes: https://datasheets.raspberrypi.com/rp2040/rp2040-datasheet.pdf ; https://datasheets.raspberrypi.com/rp2350/rp2350-datasheet.pdf ; https://github.com/raspberrypi/pico-sdk/tree/2.2.0 ; https://www.ti.com/lit/ds/symlink/max3232.pdf ; https://www.analog.com/en/resources/technical-articles/fundamentals-of-rs232-serial-communications.html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5aa30a022c41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9df817b9254a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d05bfaa90b4b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b74f94f727e42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f4f6dbab3346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0267c82f3a4e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7CFA19-B923-4B66-8A4A-8E9E6A721C8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D51471-D51E-4180-8207-7F4EFFC9CB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76F1DBA-B68F-423B-8B0A-61CCC08C1D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29FE85-4325-496A-88BE-0C7D916E3C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283B5C5-C500-4DC7-85E7-5B33F9DE19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D438A8-C823-4E34-9B9A-9A48B052E3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BA7090-6DA1-43DF-B7EF-DF0B83CAB0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03B643E-BC6C-424A-B823-320BB2CECBB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D76851-3CEC-4220-B1CA-8BDE682B97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299A89-AB2F-4308-8A51-094C27CB61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95a6439bc14706" /><Relationship Type="http://schemas.openxmlformats.org/officeDocument/2006/relationships/slideLayout" Target="/ppt/slideLayouts/slideLayout1.xml" Id="Rabe6d382add143ab" /><Relationship Type="http://schemas.openxmlformats.org/officeDocument/2006/relationships/slideLayout" Target="/ppt/slideLayouts/slideLayout2.xml" Id="R81ed4701a53446d6" /><Relationship Type="http://schemas.openxmlformats.org/officeDocument/2006/relationships/slideLayout" Target="/ppt/slideLayouts/slideLayout3.xml" Id="Rff610081371a407f" /><Relationship Type="http://schemas.openxmlformats.org/officeDocument/2006/relationships/slideLayout" Target="/ppt/slideLayouts/slideLayout4.xml" Id="R33afc45187334168" /><Relationship Type="http://schemas.openxmlformats.org/officeDocument/2006/relationships/slideLayout" Target="/ppt/slideLayouts/slideLayout5.xml" Id="R9794ca64653a49e1" /><Relationship Type="http://schemas.openxmlformats.org/officeDocument/2006/relationships/slideLayout" Target="/ppt/slideLayouts/slideLayout6.xml" Id="R5055e66d8b9e40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e6d382add143ab"/>
    <p:sldLayoutId xmlns:r="http://schemas.openxmlformats.org/officeDocument/2006/relationships" id="2147483650" r:id="R81ed4701a53446d6"/>
    <p:sldLayoutId xmlns:r="http://schemas.openxmlformats.org/officeDocument/2006/relationships" id="2147483651" r:id="Rff610081371a407f"/>
    <p:sldLayoutId xmlns:r="http://schemas.openxmlformats.org/officeDocument/2006/relationships" id="2147483652" r:id="R33afc45187334168"/>
    <p:sldLayoutId xmlns:r="http://schemas.openxmlformats.org/officeDocument/2006/relationships" id="2147483653" r:id="R9794ca64653a49e1"/>
    <p:sldLayoutId xmlns:r="http://schemas.openxmlformats.org/officeDocument/2006/relationships" id="2147483654" r:id="R5055e66d8b9e40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7a7ccd0d36444a" /><Relationship Type="http://schemas.openxmlformats.org/officeDocument/2006/relationships/notesSlide" Target="/ppt/notesSlides/notesSlide1.xml" Id="R9387aed33d8f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d9669136e74f34" /><Relationship Type="http://schemas.openxmlformats.org/officeDocument/2006/relationships/notesSlide" Target="/ppt/notesSlides/notesSlide2.xml" Id="Rdf020a034d784a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d70e22d0064e77" /><Relationship Type="http://schemas.openxmlformats.org/officeDocument/2006/relationships/notesSlide" Target="/ppt/notesSlides/notesSlide3.xml" Id="R0550ffca4ccc47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93b87958344373" /><Relationship Type="http://schemas.openxmlformats.org/officeDocument/2006/relationships/notesSlide" Target="/ppt/notesSlides/notesSlide4.xml" Id="R43e00e21f10e48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c89aa25f1a4bbe" /><Relationship Type="http://schemas.openxmlformats.org/officeDocument/2006/relationships/notesSlide" Target="/ppt/notesSlides/notesSlide5.xml" Id="R630f368a718740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55e21a5fe6447e" /><Relationship Type="http://schemas.openxmlformats.org/officeDocument/2006/relationships/notesSlide" Target="/ppt/notesSlides/notesSlide6.xml" Id="R3c03370199ad4e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ee340cd70e4918" /><Relationship Type="http://schemas.openxmlformats.org/officeDocument/2006/relationships/notesSlide" Target="/ppt/notesSlides/notesSlide7.xml" Id="R09644f25982b40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b9850260fb4b49" /><Relationship Type="http://schemas.openxmlformats.org/officeDocument/2006/relationships/image" Target="/ppt/media/image.png" Id="Ra25b813bb9b64505" /><Relationship Type="http://schemas.openxmlformats.org/officeDocument/2006/relationships/notesSlide" Target="/ppt/notesSlides/notesSlide8.xml" Id="R0d31c675c85448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128a9d9046455d" /><Relationship Type="http://schemas.openxmlformats.org/officeDocument/2006/relationships/image" Target="/ppt/media/image2.png" Id="R197a4f4bc7b94aae" /><Relationship Type="http://schemas.openxmlformats.org/officeDocument/2006/relationships/notesSlide" Target="/ppt/notesSlides/notesSlide9.xml" Id="R050379fb6dcb49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81eab582d64bc9" /><Relationship Type="http://schemas.openxmlformats.org/officeDocument/2006/relationships/notesSlide" Target="/ppt/notesSlides/notesSlide10.xml" Id="R265f969b00a244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9806d723a24e07" /><Relationship Type="http://schemas.openxmlformats.org/officeDocument/2006/relationships/notesSlide" Target="/ppt/notesSlides/notesSlide11.xml" Id="R4eef2b49edb545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26dd1475814d35" /><Relationship Type="http://schemas.openxmlformats.org/officeDocument/2006/relationships/notesSlide" Target="/ppt/notesSlides/notesSlide12.xml" Id="R02a84aabb66645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0463ccd1c6a4ebe" /><Relationship Type="http://schemas.openxmlformats.org/officeDocument/2006/relationships/notesSlide" Target="/ppt/notesSlides/notesSlide13.xml" Id="Rb2d890bae47e486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5f9493f2014dbb" /><Relationship Type="http://schemas.openxmlformats.org/officeDocument/2006/relationships/notesSlide" Target="/ppt/notesSlides/notesSlide14.xml" Id="R8eab7243fb0e4e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80be78619a64314" /><Relationship Type="http://schemas.openxmlformats.org/officeDocument/2006/relationships/notesSlide" Target="/ppt/notesSlides/notesSlide15.xml" Id="Rfdd8932d1caa40e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0bab4b05c314a2e" /><Relationship Type="http://schemas.openxmlformats.org/officeDocument/2006/relationships/notesSlide" Target="/ppt/notesSlides/notesSlide16.xml" Id="Ra0a16902dac44d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d4b16a03d1247c8" /><Relationship Type="http://schemas.openxmlformats.org/officeDocument/2006/relationships/notesSlide" Target="/ppt/notesSlides/notesSlide17.xml" Id="Rcd4bd9c65c2549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f2814c6925148cf" /><Relationship Type="http://schemas.openxmlformats.org/officeDocument/2006/relationships/notesSlide" Target="/ppt/notesSlides/notesSlide18.xml" Id="R880ccfc19480497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db14cdae0524282" /><Relationship Type="http://schemas.openxmlformats.org/officeDocument/2006/relationships/notesSlide" Target="/ppt/notesSlides/notesSlide19.xml" Id="R6ef987734d7d4e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0e2a317554414f" /><Relationship Type="http://schemas.openxmlformats.org/officeDocument/2006/relationships/notesSlide" Target="/ppt/notesSlides/notesSlide20.xml" Id="Rcb72ae50d65b4e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53d7f54bd5847b1" /><Relationship Type="http://schemas.openxmlformats.org/officeDocument/2006/relationships/notesSlide" Target="/ppt/notesSlides/notesSlide21.xml" Id="Rbbd764e0b8de49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720410d2d494450" /><Relationship Type="http://schemas.openxmlformats.org/officeDocument/2006/relationships/notesSlide" Target="/ppt/notesSlides/notesSlide22.xml" Id="Rda2099eb568847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fb18c8fd7334cb8" /><Relationship Type="http://schemas.openxmlformats.org/officeDocument/2006/relationships/notesSlide" Target="/ppt/notesSlides/notesSlide23.xml" Id="Re24458ffe66c4a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87ac6df95fe4f0c" /><Relationship Type="http://schemas.openxmlformats.org/officeDocument/2006/relationships/notesSlide" Target="/ppt/notesSlides/notesSlide24.xml" Id="Rd6b70c24c2b74bb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82f41b8debd4e75" /><Relationship Type="http://schemas.openxmlformats.org/officeDocument/2006/relationships/image" Target="/ppt/media/image3.png" Id="Ra0329c45720c4a73" /><Relationship Type="http://schemas.openxmlformats.org/officeDocument/2006/relationships/notesSlide" Target="/ppt/notesSlides/notesSlide25.xml" Id="R2d6b131005fe454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37556fa50f6457b" /><Relationship Type="http://schemas.openxmlformats.org/officeDocument/2006/relationships/notesSlide" Target="/ppt/notesSlides/notesSlide26.xml" Id="Raba1ef49ac2845d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e59e16242164594" /><Relationship Type="http://schemas.openxmlformats.org/officeDocument/2006/relationships/notesSlide" Target="/ppt/notesSlides/notesSlide27.xml" Id="R9d7ae588bc79465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563730902ad4fc5" /><Relationship Type="http://schemas.openxmlformats.org/officeDocument/2006/relationships/notesSlide" Target="/ppt/notesSlides/notesSlide28.xml" Id="Rf7e094a267d14e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3debff6f9ed4fa6" /><Relationship Type="http://schemas.openxmlformats.org/officeDocument/2006/relationships/notesSlide" Target="/ppt/notesSlides/notesSlide29.xml" Id="R0ec7d3abfa5f4ddd" /></Relationships>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F8A2DBE-F7B6-4E45-A2CB-9D532E257FA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UART y RS-232 con Raspberry Pi Pico</a:t>
            </a:r>
          </a:p>
        </p:txBody>
      </p:sp>
      <p:sp>
        <p:nvSpPr>
          <p:cNvPr id="2" name="text-1">
            <a:extLst xmlns:a="http://schemas.openxmlformats.org/drawingml/2006/main">
              <a:ext uri="{FF2B5EF4-FFF2-40B4-BE49-F238E27FC236}">
                <a16:creationId xmlns:a16="http://schemas.microsoft.com/office/drawing/2014/main" id="{B1E6DD6F-159F-42DA-BEC0-0CC7EED13482}"/>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659E37EB-F677-4376-9658-CB2A91E41FC8}"/>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53049"/>
                </a:solidFill>
                <a:latin typeface="DejaVu Sans"/>
                <a:ea typeface="DejaVu Sans"/>
                <a:cs typeface="DejaVu Sans"/>
              </a:defRPr>
            </a:defPPr>
            <a:lvl1pPr>
              <a:defRPr sz="2175" b="0">
                <a:solidFill>
                  <a:srgbClr val="153049"/>
                </a:solidFill>
                <a:latin typeface="DejaVu Sans"/>
                <a:ea typeface="DejaVu Sans"/>
                <a:cs typeface="DejaVu Sans"/>
              </a:defRPr>
            </a:lvl1pPr>
            <a:lvl2pPr>
              <a:defRPr sz="2175" b="0">
                <a:solidFill>
                  <a:srgbClr val="153049"/>
                </a:solidFill>
                <a:latin typeface="DejaVu Sans"/>
                <a:ea typeface="DejaVu Sans"/>
                <a:cs typeface="DejaVu Sans"/>
              </a:defRPr>
            </a:lvl2pPr>
            <a:lvl3pPr>
              <a:defRPr sz="2175" b="0">
                <a:solidFill>
                  <a:srgbClr val="153049"/>
                </a:solidFill>
                <a:latin typeface="DejaVu Sans"/>
                <a:ea typeface="DejaVu Sans"/>
                <a:cs typeface="DejaVu Sans"/>
              </a:defRPr>
            </a:lvl3pPr>
            <a:lvl4pPr>
              <a:defRPr sz="2175" b="0">
                <a:solidFill>
                  <a:srgbClr val="153049"/>
                </a:solidFill>
                <a:latin typeface="DejaVu Sans"/>
                <a:ea typeface="DejaVu Sans"/>
                <a:cs typeface="DejaVu Sans"/>
              </a:defRPr>
            </a:lvl4pPr>
            <a:lvl5pPr>
              <a:defRPr sz="2175" b="0">
                <a:solidFill>
                  <a:srgbClr val="153049"/>
                </a:solidFill>
                <a:latin typeface="DejaVu Sans"/>
                <a:ea typeface="DejaVu Sans"/>
                <a:cs typeface="DejaVu Sans"/>
              </a:defRPr>
            </a:lvl5pPr>
            <a:lvl6pPr>
              <a:defRPr sz="2175" b="0">
                <a:solidFill>
                  <a:srgbClr val="153049"/>
                </a:solidFill>
                <a:latin typeface="DejaVu Sans"/>
                <a:ea typeface="DejaVu Sans"/>
                <a:cs typeface="DejaVu Sans"/>
              </a:defRPr>
            </a:lvl6pPr>
            <a:lvl7pPr>
              <a:defRPr sz="2175" b="0">
                <a:solidFill>
                  <a:srgbClr val="153049"/>
                </a:solidFill>
                <a:latin typeface="DejaVu Sans"/>
                <a:ea typeface="DejaVu Sans"/>
                <a:cs typeface="DejaVu Sans"/>
              </a:defRPr>
            </a:lvl7pPr>
            <a:lvl8pPr>
              <a:defRPr sz="2175" b="0">
                <a:solidFill>
                  <a:srgbClr val="153049"/>
                </a:solidFill>
                <a:latin typeface="DejaVu Sans"/>
                <a:ea typeface="DejaVu Sans"/>
                <a:cs typeface="DejaVu Sans"/>
              </a:defRPr>
            </a:lvl8pPr>
            <a:lvl9pPr>
              <a:defRPr sz="2175" b="0">
                <a:solidFill>
                  <a:srgbClr val="153049"/>
                </a:solidFill>
                <a:latin typeface="DejaVu Sans"/>
                <a:ea typeface="DejaVu Sans"/>
                <a:cs typeface="DejaVu Sans"/>
              </a:defRPr>
            </a:lvl9pPr>
          </a:lstStyle>
          <a:p xmlns:a="http://schemas.openxmlformats.org/drawingml/2006/main">
            <a:pPr>
              <a:defRPr sz="2175" b="0">
                <a:solidFill>
                  <a:srgbClr val="153049"/>
                </a:solidFill>
                <a:latin typeface="DejaVu Sans"/>
                <a:ea typeface="DejaVu Sans"/>
                <a:cs typeface="DejaVu Sans"/>
              </a:defRPr>
            </a:pPr>
            <a:r>
              <a:rPr sz="2175" b="0">
                <a:solidFill>
                  <a:srgbClr val="153049"/>
                </a:solidFill>
                <a:latin typeface="DejaVu Sans"/>
                <a:ea typeface="DejaVu Sans"/>
                <a:cs typeface="DejaVu Sans"/>
              </a:rPr>
              <a:t>Ana Nickole Cisneros Herrera · 203477</a:t>
            </a:r>
          </a:p>
        </p:txBody>
      </p:sp>
      <p:sp>
        <p:nvSpPr>
          <p:cNvPr id="4" name="text-3">
            <a:extLst xmlns:a="http://schemas.openxmlformats.org/drawingml/2006/main">
              <a:ext uri="{FF2B5EF4-FFF2-40B4-BE49-F238E27FC236}">
                <a16:creationId xmlns:a16="http://schemas.microsoft.com/office/drawing/2014/main" id="{6FFAD4FF-FFFC-4D56-9AE5-7A02014F0565}"/>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ADB6D2C4-70E2-4B44-8B13-00C7B33249DB}"/>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53049"/>
                </a:solidFill>
                <a:latin typeface="DejaVu Sans"/>
                <a:ea typeface="DejaVu Sans"/>
                <a:cs typeface="DejaVu Sans"/>
              </a:defRPr>
            </a:defPPr>
            <a:lvl1pPr>
              <a:defRPr sz="2175" b="0">
                <a:solidFill>
                  <a:srgbClr val="153049"/>
                </a:solidFill>
                <a:latin typeface="DejaVu Sans"/>
                <a:ea typeface="DejaVu Sans"/>
                <a:cs typeface="DejaVu Sans"/>
              </a:defRPr>
            </a:lvl1pPr>
            <a:lvl2pPr>
              <a:defRPr sz="2175" b="0">
                <a:solidFill>
                  <a:srgbClr val="153049"/>
                </a:solidFill>
                <a:latin typeface="DejaVu Sans"/>
                <a:ea typeface="DejaVu Sans"/>
                <a:cs typeface="DejaVu Sans"/>
              </a:defRPr>
            </a:lvl2pPr>
            <a:lvl3pPr>
              <a:defRPr sz="2175" b="0">
                <a:solidFill>
                  <a:srgbClr val="153049"/>
                </a:solidFill>
                <a:latin typeface="DejaVu Sans"/>
                <a:ea typeface="DejaVu Sans"/>
                <a:cs typeface="DejaVu Sans"/>
              </a:defRPr>
            </a:lvl3pPr>
            <a:lvl4pPr>
              <a:defRPr sz="2175" b="0">
                <a:solidFill>
                  <a:srgbClr val="153049"/>
                </a:solidFill>
                <a:latin typeface="DejaVu Sans"/>
                <a:ea typeface="DejaVu Sans"/>
                <a:cs typeface="DejaVu Sans"/>
              </a:defRPr>
            </a:lvl4pPr>
            <a:lvl5pPr>
              <a:defRPr sz="2175" b="0">
                <a:solidFill>
                  <a:srgbClr val="153049"/>
                </a:solidFill>
                <a:latin typeface="DejaVu Sans"/>
                <a:ea typeface="DejaVu Sans"/>
                <a:cs typeface="DejaVu Sans"/>
              </a:defRPr>
            </a:lvl5pPr>
            <a:lvl6pPr>
              <a:defRPr sz="2175" b="0">
                <a:solidFill>
                  <a:srgbClr val="153049"/>
                </a:solidFill>
                <a:latin typeface="DejaVu Sans"/>
                <a:ea typeface="DejaVu Sans"/>
                <a:cs typeface="DejaVu Sans"/>
              </a:defRPr>
            </a:lvl6pPr>
            <a:lvl7pPr>
              <a:defRPr sz="2175" b="0">
                <a:solidFill>
                  <a:srgbClr val="153049"/>
                </a:solidFill>
                <a:latin typeface="DejaVu Sans"/>
                <a:ea typeface="DejaVu Sans"/>
                <a:cs typeface="DejaVu Sans"/>
              </a:defRPr>
            </a:lvl7pPr>
            <a:lvl8pPr>
              <a:defRPr sz="2175" b="0">
                <a:solidFill>
                  <a:srgbClr val="153049"/>
                </a:solidFill>
                <a:latin typeface="DejaVu Sans"/>
                <a:ea typeface="DejaVu Sans"/>
                <a:cs typeface="DejaVu Sans"/>
              </a:defRPr>
            </a:lvl8pPr>
            <a:lvl9pPr>
              <a:defRPr sz="2175" b="0">
                <a:solidFill>
                  <a:srgbClr val="153049"/>
                </a:solidFill>
                <a:latin typeface="DejaVu Sans"/>
                <a:ea typeface="DejaVu Sans"/>
                <a:cs typeface="DejaVu Sans"/>
              </a:defRPr>
            </a:lvl9pPr>
          </a:lstStyle>
          <a:p xmlns:a="http://schemas.openxmlformats.org/drawingml/2006/main">
            <a:pPr>
              <a:defRPr sz="2175" b="0">
                <a:solidFill>
                  <a:srgbClr val="153049"/>
                </a:solidFill>
                <a:latin typeface="DejaVu Sans"/>
                <a:ea typeface="DejaVu Sans"/>
                <a:cs typeface="DejaVu Sans"/>
              </a:defRPr>
            </a:pPr>
            <a:r>
              <a:rPr sz="2175" b="0">
                <a:solidFill>
                  <a:srgbClr val="153049"/>
                </a:solidFill>
                <a:latin typeface="DejaVu Sans"/>
                <a:ea typeface="DejaVu Sans"/>
                <a:cs typeface="DejaVu Sans"/>
              </a:rPr>
              <a:t>Leslie Yoselin Sánchez Flores · 201831</a:t>
            </a:r>
          </a:p>
        </p:txBody>
      </p:sp>
      <p:sp>
        <p:nvSpPr>
          <p:cNvPr id="6" name="text-5">
            <a:extLst xmlns:a="http://schemas.openxmlformats.org/drawingml/2006/main">
              <a:ext uri="{FF2B5EF4-FFF2-40B4-BE49-F238E27FC236}">
                <a16:creationId xmlns:a16="http://schemas.microsoft.com/office/drawing/2014/main" id="{07A21E19-6683-414A-9A9B-C330FCCB911A}"/>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A07A7471-3C2B-4D00-897A-46B4C3A042C6}"/>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53049"/>
                </a:solidFill>
                <a:latin typeface="DejaVu Sans"/>
                <a:ea typeface="DejaVu Sans"/>
                <a:cs typeface="DejaVu Sans"/>
              </a:defRPr>
            </a:defPPr>
            <a:lvl1pPr>
              <a:defRPr sz="2175" b="0">
                <a:solidFill>
                  <a:srgbClr val="153049"/>
                </a:solidFill>
                <a:latin typeface="DejaVu Sans"/>
                <a:ea typeface="DejaVu Sans"/>
                <a:cs typeface="DejaVu Sans"/>
              </a:defRPr>
            </a:lvl1pPr>
            <a:lvl2pPr>
              <a:defRPr sz="2175" b="0">
                <a:solidFill>
                  <a:srgbClr val="153049"/>
                </a:solidFill>
                <a:latin typeface="DejaVu Sans"/>
                <a:ea typeface="DejaVu Sans"/>
                <a:cs typeface="DejaVu Sans"/>
              </a:defRPr>
            </a:lvl2pPr>
            <a:lvl3pPr>
              <a:defRPr sz="2175" b="0">
                <a:solidFill>
                  <a:srgbClr val="153049"/>
                </a:solidFill>
                <a:latin typeface="DejaVu Sans"/>
                <a:ea typeface="DejaVu Sans"/>
                <a:cs typeface="DejaVu Sans"/>
              </a:defRPr>
            </a:lvl3pPr>
            <a:lvl4pPr>
              <a:defRPr sz="2175" b="0">
                <a:solidFill>
                  <a:srgbClr val="153049"/>
                </a:solidFill>
                <a:latin typeface="DejaVu Sans"/>
                <a:ea typeface="DejaVu Sans"/>
                <a:cs typeface="DejaVu Sans"/>
              </a:defRPr>
            </a:lvl4pPr>
            <a:lvl5pPr>
              <a:defRPr sz="2175" b="0">
                <a:solidFill>
                  <a:srgbClr val="153049"/>
                </a:solidFill>
                <a:latin typeface="DejaVu Sans"/>
                <a:ea typeface="DejaVu Sans"/>
                <a:cs typeface="DejaVu Sans"/>
              </a:defRPr>
            </a:lvl5pPr>
            <a:lvl6pPr>
              <a:defRPr sz="2175" b="0">
                <a:solidFill>
                  <a:srgbClr val="153049"/>
                </a:solidFill>
                <a:latin typeface="DejaVu Sans"/>
                <a:ea typeface="DejaVu Sans"/>
                <a:cs typeface="DejaVu Sans"/>
              </a:defRPr>
            </a:lvl6pPr>
            <a:lvl7pPr>
              <a:defRPr sz="2175" b="0">
                <a:solidFill>
                  <a:srgbClr val="153049"/>
                </a:solidFill>
                <a:latin typeface="DejaVu Sans"/>
                <a:ea typeface="DejaVu Sans"/>
                <a:cs typeface="DejaVu Sans"/>
              </a:defRPr>
            </a:lvl7pPr>
            <a:lvl8pPr>
              <a:defRPr sz="2175" b="0">
                <a:solidFill>
                  <a:srgbClr val="153049"/>
                </a:solidFill>
                <a:latin typeface="DejaVu Sans"/>
                <a:ea typeface="DejaVu Sans"/>
                <a:cs typeface="DejaVu Sans"/>
              </a:defRPr>
            </a:lvl8pPr>
            <a:lvl9pPr>
              <a:defRPr sz="2175" b="0">
                <a:solidFill>
                  <a:srgbClr val="153049"/>
                </a:solidFill>
                <a:latin typeface="DejaVu Sans"/>
                <a:ea typeface="DejaVu Sans"/>
                <a:cs typeface="DejaVu Sans"/>
              </a:defRPr>
            </a:lvl9pPr>
          </a:lstStyle>
          <a:p xmlns:a="http://schemas.openxmlformats.org/drawingml/2006/main">
            <a:pPr>
              <a:defRPr sz="2175" b="0">
                <a:solidFill>
                  <a:srgbClr val="153049"/>
                </a:solidFill>
                <a:latin typeface="DejaVu Sans"/>
                <a:ea typeface="DejaVu Sans"/>
                <a:cs typeface="DejaVu Sans"/>
              </a:defRPr>
            </a:pPr>
            <a:r>
              <a:rPr sz="2175" b="0">
                <a:solidFill>
                  <a:srgbClr val="153049"/>
                </a:solidFill>
                <a:latin typeface="DejaVu Sans"/>
                <a:ea typeface="DejaVu Sans"/>
                <a:cs typeface="DejaVu Sans"/>
              </a:rPr>
              <a:t>RP2040 y RP2350 · Acceso por registros y Pico SDK</a:t>
            </a:r>
          </a:p>
        </p:txBody>
      </p:sp>
      <p:sp>
        <p:nvSpPr>
          <p:cNvPr id="8" name="text-7">
            <a:extLst xmlns:a="http://schemas.openxmlformats.org/drawingml/2006/main">
              <a:ext uri="{FF2B5EF4-FFF2-40B4-BE49-F238E27FC236}">
                <a16:creationId xmlns:a16="http://schemas.microsoft.com/office/drawing/2014/main" id="{7CFEDBBA-EBBA-4F51-9338-448EE0B97183}"/>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01 / 29</a:t>
            </a:r>
          </a:p>
        </p:txBody>
      </p:sp>
    </p:spTree>
    <p:extLst>
      <p:ext uri="{BB962C8B-B14F-4D97-AF65-F5344CB8AC3E}">
        <p14:creationId xmlns:p14="http://schemas.microsoft.com/office/powerpoint/2010/main" val="1449340231"/>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3E1565F-8E89-492C-AEBD-898F7CD41B5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Una computadora controla un sistema embebido</a:t>
            </a:r>
          </a:p>
        </p:txBody>
      </p:sp>
      <p:sp>
        <p:nvSpPr>
          <p:cNvPr id="2" name="text-1">
            <a:extLst xmlns:a="http://schemas.openxmlformats.org/drawingml/2006/main">
              <a:ext uri="{FF2B5EF4-FFF2-40B4-BE49-F238E27FC236}">
                <a16:creationId xmlns:a16="http://schemas.microsoft.com/office/drawing/2014/main" id="{D98C62D5-B732-45A5-8664-E4CBE4CCC852}"/>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018A4AA4-64BB-4696-864D-C7DE5B7CCA90}"/>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La PC envía texto y la Pico ejecuta comandos.</a:t>
            </a:r>
          </a:p>
        </p:txBody>
      </p:sp>
      <p:sp>
        <p:nvSpPr>
          <p:cNvPr id="4" name="text-3">
            <a:extLst xmlns:a="http://schemas.openxmlformats.org/drawingml/2006/main">
              <a:ext uri="{FF2B5EF4-FFF2-40B4-BE49-F238E27FC236}">
                <a16:creationId xmlns:a16="http://schemas.microsoft.com/office/drawing/2014/main" id="{B6940F18-63DC-4EDD-BC00-C28CBC4A9047}"/>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E944126F-F144-4915-9442-33FC0C08B233}"/>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TX y RX transportan bytes en sentidos independientes.</a:t>
            </a:r>
          </a:p>
        </p:txBody>
      </p:sp>
      <p:sp>
        <p:nvSpPr>
          <p:cNvPr id="6" name="text-5">
            <a:extLst xmlns:a="http://schemas.openxmlformats.org/drawingml/2006/main">
              <a:ext uri="{FF2B5EF4-FFF2-40B4-BE49-F238E27FC236}">
                <a16:creationId xmlns:a16="http://schemas.microsoft.com/office/drawing/2014/main" id="{62D1A48A-9631-47D0-878D-47B8DE835F8E}"/>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F155CB01-9EC5-4867-A201-20A592F7C63D}"/>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El resultado aparece en la terminal y en un LED externo.</a:t>
            </a:r>
          </a:p>
        </p:txBody>
      </p:sp>
      <p:sp>
        <p:nvSpPr>
          <p:cNvPr id="8" name="text-7">
            <a:extLst xmlns:a="http://schemas.openxmlformats.org/drawingml/2006/main">
              <a:ext uri="{FF2B5EF4-FFF2-40B4-BE49-F238E27FC236}">
                <a16:creationId xmlns:a16="http://schemas.microsoft.com/office/drawing/2014/main" id="{6F17F21A-142A-4207-9E11-1E7E0E7EEDF8}"/>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02 / 29</a:t>
            </a:r>
          </a:p>
        </p:txBody>
      </p:sp>
    </p:spTree>
    <p:extLst>
      <p:ext uri="{BB962C8B-B14F-4D97-AF65-F5344CB8AC3E}">
        <p14:creationId xmlns:p14="http://schemas.microsoft.com/office/powerpoint/2010/main" val="74183433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B7CD138-3C4A-460F-981F-057F0303D66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UART organiza las tramas</a:t>
            </a:r>
          </a:p>
        </p:txBody>
      </p:sp>
      <p:sp>
        <p:nvSpPr>
          <p:cNvPr id="2" name="text-1">
            <a:extLst xmlns:a="http://schemas.openxmlformats.org/drawingml/2006/main">
              <a:ext uri="{FF2B5EF4-FFF2-40B4-BE49-F238E27FC236}">
                <a16:creationId xmlns:a16="http://schemas.microsoft.com/office/drawing/2014/main" id="{738C8D51-525A-4401-A06B-5AFFFB71218D}"/>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0331C538-A3AF-41E0-801F-45E587EC8739}"/>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Universal Asynchronous Receiver/Transmitter.</a:t>
            </a:r>
          </a:p>
        </p:txBody>
      </p:sp>
      <p:sp>
        <p:nvSpPr>
          <p:cNvPr id="4" name="text-3">
            <a:extLst xmlns:a="http://schemas.openxmlformats.org/drawingml/2006/main">
              <a:ext uri="{FF2B5EF4-FFF2-40B4-BE49-F238E27FC236}">
                <a16:creationId xmlns:a16="http://schemas.microsoft.com/office/drawing/2014/main" id="{9C36B3A8-9205-4DE1-849B-A2A29CD4D302}"/>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989AFABA-4AEB-4F6C-8319-753ACECBD542}"/>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Convierte bytes paralelos en una secuencia de bits y viceversa.</a:t>
            </a:r>
          </a:p>
        </p:txBody>
      </p:sp>
      <p:sp>
        <p:nvSpPr>
          <p:cNvPr id="6" name="text-5">
            <a:extLst xmlns:a="http://schemas.openxmlformats.org/drawingml/2006/main">
              <a:ext uri="{FF2B5EF4-FFF2-40B4-BE49-F238E27FC236}">
                <a16:creationId xmlns:a16="http://schemas.microsoft.com/office/drawing/2014/main" id="{93BFE10F-1449-4C36-A1DC-24CC3EF24CB7}"/>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D16B2DC9-2470-46B0-AEDF-8765EFD72A16}"/>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Ambos extremos acuerdan baud, bits, paridad y stop.</a:t>
            </a:r>
          </a:p>
        </p:txBody>
      </p:sp>
      <p:sp>
        <p:nvSpPr>
          <p:cNvPr id="8" name="text-7">
            <a:extLst xmlns:a="http://schemas.openxmlformats.org/drawingml/2006/main">
              <a:ext uri="{FF2B5EF4-FFF2-40B4-BE49-F238E27FC236}">
                <a16:creationId xmlns:a16="http://schemas.microsoft.com/office/drawing/2014/main" id="{3729C86D-9874-4ECF-8533-06481A44102B}"/>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03 / 29</a:t>
            </a:r>
          </a:p>
        </p:txBody>
      </p:sp>
    </p:spTree>
    <p:extLst>
      <p:ext uri="{BB962C8B-B14F-4D97-AF65-F5344CB8AC3E}">
        <p14:creationId xmlns:p14="http://schemas.microsoft.com/office/powerpoint/2010/main" val="711377824"/>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FB06E88-35CA-4E1F-9BDB-2ED91B89804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RS-232 adapta la interfaz eléctrica</a:t>
            </a:r>
          </a:p>
        </p:txBody>
      </p:sp>
      <p:sp>
        <p:nvSpPr>
          <p:cNvPr id="2" name="text-1">
            <a:extLst xmlns:a="http://schemas.openxmlformats.org/drawingml/2006/main">
              <a:ext uri="{FF2B5EF4-FFF2-40B4-BE49-F238E27FC236}">
                <a16:creationId xmlns:a16="http://schemas.microsoft.com/office/drawing/2014/main" id="{568DCBBF-9C1E-48D9-92AF-86ADE8BF1AAB}"/>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9BA7FC4B-7FB3-4E0A-84FF-CA298554421B}"/>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GP0 y GP1 trabajan con lógica de 3.3 V.</a:t>
            </a:r>
          </a:p>
        </p:txBody>
      </p:sp>
      <p:sp>
        <p:nvSpPr>
          <p:cNvPr id="4" name="text-3">
            <a:extLst xmlns:a="http://schemas.openxmlformats.org/drawingml/2006/main">
              <a:ext uri="{FF2B5EF4-FFF2-40B4-BE49-F238E27FC236}">
                <a16:creationId xmlns:a16="http://schemas.microsoft.com/office/drawing/2014/main" id="{9D1C63DA-146E-4CCA-A519-B55171C11943}"/>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BBE3325B-E9B1-4F61-AA5E-F80ECDDBE96E}"/>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MAX3232 convierte niveles e invierte la polaridad.</a:t>
            </a:r>
          </a:p>
        </p:txBody>
      </p:sp>
      <p:sp>
        <p:nvSpPr>
          <p:cNvPr id="6" name="text-5">
            <a:extLst xmlns:a="http://schemas.openxmlformats.org/drawingml/2006/main">
              <a:ext uri="{FF2B5EF4-FFF2-40B4-BE49-F238E27FC236}">
                <a16:creationId xmlns:a16="http://schemas.microsoft.com/office/drawing/2014/main" id="{50B583F8-6E92-488F-B13A-54226DA14C64}"/>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A6D0F539-F4ED-4601-AF94-1D1DB1A87C06}"/>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El USB–RS-232 de la PC termina el enlace serial.</a:t>
            </a:r>
          </a:p>
        </p:txBody>
      </p:sp>
      <p:sp>
        <p:nvSpPr>
          <p:cNvPr id="8" name="text-7">
            <a:extLst xmlns:a="http://schemas.openxmlformats.org/drawingml/2006/main">
              <a:ext uri="{FF2B5EF4-FFF2-40B4-BE49-F238E27FC236}">
                <a16:creationId xmlns:a16="http://schemas.microsoft.com/office/drawing/2014/main" id="{0F9492FD-F8AE-410C-96A5-547A31457D1F}"/>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04 / 29</a:t>
            </a:r>
          </a:p>
        </p:txBody>
      </p:sp>
    </p:spTree>
    <p:extLst>
      <p:ext uri="{BB962C8B-B14F-4D97-AF65-F5344CB8AC3E}">
        <p14:creationId xmlns:p14="http://schemas.microsoft.com/office/powerpoint/2010/main" val="1541105594"/>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7A3F6E7-8EBF-4747-8AB0-F4386139A22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De los terminales a la UART integrada</a:t>
            </a:r>
          </a:p>
        </p:txBody>
      </p:sp>
      <p:sp>
        <p:nvSpPr>
          <p:cNvPr id="2" name="text-1">
            <a:extLst xmlns:a="http://schemas.openxmlformats.org/drawingml/2006/main">
              <a:ext uri="{FF2B5EF4-FFF2-40B4-BE49-F238E27FC236}">
                <a16:creationId xmlns:a16="http://schemas.microsoft.com/office/drawing/2014/main" id="{6384402C-E62D-4A77-ACDA-1ACE27632B2C}"/>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5BB2BA5C-E0E6-40B7-9778-5DC8A9B175E9}"/>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Los terminales y módems necesitaban intercambio serial fiable.</a:t>
            </a:r>
          </a:p>
        </p:txBody>
      </p:sp>
      <p:sp>
        <p:nvSpPr>
          <p:cNvPr id="4" name="text-3">
            <a:extLst xmlns:a="http://schemas.openxmlformats.org/drawingml/2006/main">
              <a:ext uri="{FF2B5EF4-FFF2-40B4-BE49-F238E27FC236}">
                <a16:creationId xmlns:a16="http://schemas.microsoft.com/office/drawing/2014/main" id="{4D3568A9-B19B-4D40-AA2B-98016F52328E}"/>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64224B14-1CDA-4FBB-BFCC-C0E7E682ED43}"/>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Circuitos externos realizaban la conversión paralelo–serie.</a:t>
            </a:r>
          </a:p>
        </p:txBody>
      </p:sp>
      <p:sp>
        <p:nvSpPr>
          <p:cNvPr id="6" name="text-5">
            <a:extLst xmlns:a="http://schemas.openxmlformats.org/drawingml/2006/main">
              <a:ext uri="{FF2B5EF4-FFF2-40B4-BE49-F238E27FC236}">
                <a16:creationId xmlns:a16="http://schemas.microsoft.com/office/drawing/2014/main" id="{FA7DD9F5-2FBB-4879-B1CF-4744A0C501C7}"/>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D17A41C1-0AA4-4F92-AA17-D12CAF5A458F}"/>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Los microcontroladores integran UART, FIFO y control por registros.</a:t>
            </a:r>
          </a:p>
        </p:txBody>
      </p:sp>
      <p:sp>
        <p:nvSpPr>
          <p:cNvPr id="8" name="text-7">
            <a:extLst xmlns:a="http://schemas.openxmlformats.org/drawingml/2006/main">
              <a:ext uri="{FF2B5EF4-FFF2-40B4-BE49-F238E27FC236}">
                <a16:creationId xmlns:a16="http://schemas.microsoft.com/office/drawing/2014/main" id="{83600702-7F76-430B-8D66-5ADC0D929D2C}"/>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05 / 29</a:t>
            </a:r>
          </a:p>
        </p:txBody>
      </p:sp>
    </p:spTree>
    <p:extLst>
      <p:ext uri="{BB962C8B-B14F-4D97-AF65-F5344CB8AC3E}">
        <p14:creationId xmlns:p14="http://schemas.microsoft.com/office/powerpoint/2010/main" val="1969713160"/>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D1F2C12-9FCF-4D69-95C6-C854058C9C3D}"/>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Evolución de la interfaz</a:t>
            </a:r>
          </a:p>
        </p:txBody>
      </p:sp>
      <p:sp>
        <p:nvSpPr>
          <p:cNvPr id="2" name="text-1">
            <a:extLst xmlns:a="http://schemas.openxmlformats.org/drawingml/2006/main">
              <a:ext uri="{FF2B5EF4-FFF2-40B4-BE49-F238E27FC236}">
                <a16:creationId xmlns:a16="http://schemas.microsoft.com/office/drawing/2014/main" id="{5980BFD8-28FD-41C3-A328-00532D11D924}"/>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8903B769-C7F9-4407-A082-D6E91D16A624}"/>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La estandarización facilitó conectar equipos de distintos fabricantes.</a:t>
            </a:r>
          </a:p>
        </p:txBody>
      </p:sp>
      <p:sp>
        <p:nvSpPr>
          <p:cNvPr id="4" name="text-3">
            <a:extLst xmlns:a="http://schemas.openxmlformats.org/drawingml/2006/main">
              <a:ext uri="{FF2B5EF4-FFF2-40B4-BE49-F238E27FC236}">
                <a16:creationId xmlns:a16="http://schemas.microsoft.com/office/drawing/2014/main" id="{05080BE6-4C32-4C17-80F3-036CC74476A0}"/>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5CE82772-FBE7-49B3-BAA2-99D401E43120}"/>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Las bombas de carga permiten RS-232 desde una alimentación baja.</a:t>
            </a:r>
          </a:p>
        </p:txBody>
      </p:sp>
      <p:sp>
        <p:nvSpPr>
          <p:cNvPr id="6" name="text-5">
            <a:extLst xmlns:a="http://schemas.openxmlformats.org/drawingml/2006/main">
              <a:ext uri="{FF2B5EF4-FFF2-40B4-BE49-F238E27FC236}">
                <a16:creationId xmlns:a16="http://schemas.microsoft.com/office/drawing/2014/main" id="{EC692C01-6EC3-489D-8691-70783F0037FE}"/>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1AFFCF51-0402-4693-A949-0CE27D2556C9}"/>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FIFO, interrupciones y DMA facilitan atender flujos de datos.</a:t>
            </a:r>
          </a:p>
        </p:txBody>
      </p:sp>
      <p:sp>
        <p:nvSpPr>
          <p:cNvPr id="8" name="text-7">
            <a:extLst xmlns:a="http://schemas.openxmlformats.org/drawingml/2006/main">
              <a:ext uri="{FF2B5EF4-FFF2-40B4-BE49-F238E27FC236}">
                <a16:creationId xmlns:a16="http://schemas.microsoft.com/office/drawing/2014/main" id="{E42660E2-95F2-49FA-8815-05CC51A47F1D}"/>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06 / 29</a:t>
            </a:r>
          </a:p>
        </p:txBody>
      </p:sp>
    </p:spTree>
    <p:extLst>
      <p:ext uri="{BB962C8B-B14F-4D97-AF65-F5344CB8AC3E}">
        <p14:creationId xmlns:p14="http://schemas.microsoft.com/office/powerpoint/2010/main" val="904021814"/>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29A2868-76F5-4892-BD29-B98D0934AF3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Aplicaciones que siguen utilizando UART</a:t>
            </a:r>
          </a:p>
        </p:txBody>
      </p:sp>
      <p:sp>
        <p:nvSpPr>
          <p:cNvPr id="2" name="text-1">
            <a:extLst xmlns:a="http://schemas.openxmlformats.org/drawingml/2006/main">
              <a:ext uri="{FF2B5EF4-FFF2-40B4-BE49-F238E27FC236}">
                <a16:creationId xmlns:a16="http://schemas.microsoft.com/office/drawing/2014/main" id="{0FFA9500-9B5E-4795-BC1E-9281FE41F3D8}"/>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AFDDCAD9-FD40-4D7C-8DEB-9AEB100F5DA4}"/>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Consolas de diagnóstico en equipos embebidos.</a:t>
            </a:r>
          </a:p>
        </p:txBody>
      </p:sp>
      <p:sp>
        <p:nvSpPr>
          <p:cNvPr id="4" name="text-3">
            <a:extLst xmlns:a="http://schemas.openxmlformats.org/drawingml/2006/main">
              <a:ext uri="{FF2B5EF4-FFF2-40B4-BE49-F238E27FC236}">
                <a16:creationId xmlns:a16="http://schemas.microsoft.com/office/drawing/2014/main" id="{FFED6575-F78B-4E11-84C6-A0E6B0D1B6AF}"/>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14A3DCE6-75FE-455C-9B54-7CFB29B7A952}"/>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Módulos GNSS y módems con comandos de texto.</a:t>
            </a:r>
          </a:p>
        </p:txBody>
      </p:sp>
      <p:sp>
        <p:nvSpPr>
          <p:cNvPr id="6" name="text-5">
            <a:extLst xmlns:a="http://schemas.openxmlformats.org/drawingml/2006/main">
              <a:ext uri="{FF2B5EF4-FFF2-40B4-BE49-F238E27FC236}">
                <a16:creationId xmlns:a16="http://schemas.microsoft.com/office/drawing/2014/main" id="{D5DA3CD8-0428-4068-B707-D3FB03D837EF}"/>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B8AA1A9A-8C0B-4213-9252-0D77D4F72120}"/>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Instrumentos, balanzas y controladores con RS-232.</a:t>
            </a:r>
          </a:p>
        </p:txBody>
      </p:sp>
      <p:sp>
        <p:nvSpPr>
          <p:cNvPr id="8" name="text-7">
            <a:extLst xmlns:a="http://schemas.openxmlformats.org/drawingml/2006/main">
              <a:ext uri="{FF2B5EF4-FFF2-40B4-BE49-F238E27FC236}">
                <a16:creationId xmlns:a16="http://schemas.microsoft.com/office/drawing/2014/main" id="{5808496E-4EA2-46DD-A5D7-2EB7C0A80F2D}"/>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07 / 29</a:t>
            </a:r>
          </a:p>
        </p:txBody>
      </p:sp>
    </p:spTree>
    <p:extLst>
      <p:ext uri="{BB962C8B-B14F-4D97-AF65-F5344CB8AC3E}">
        <p14:creationId xmlns:p14="http://schemas.microsoft.com/office/powerpoint/2010/main" val="436234420"/>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8E08A9C-1246-420C-890C-5E60A4D69E6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Arquitectura de UART0</a:t>
            </a:r>
          </a:p>
        </p:txBody>
      </p:sp>
      <p:pic>
        <p:nvPicPr>
          <p:cNvPr id="2" name="">
            <a:extLst xmlns:a="http://schemas.openxmlformats.org/drawingml/2006/main">
              <a:ext uri="{FF2B5EF4-FFF2-40B4-BE49-F238E27FC236}">
                <a16:creationId xmlns:a16="http://schemas.microsoft.com/office/drawing/2014/main" id="{B95526E0-903D-4A43-ABEC-308B8828B521}"/>
              </a:ext>
            </a:extLst>
          </p:cNvPr>
          <p:cNvPicPr>
            <a:picLocks xmlns:a="http://schemas.openxmlformats.org/drawingml/2006/main" noChangeAspect="1"/>
          </p:cNvPicPr>
          <p:nvPr/>
        </p:nvPicPr>
        <p:blipFill>
          <a:blip xmlns:r="http://schemas.openxmlformats.org/officeDocument/2006/relationships" xmlns:a="http://schemas.openxmlformats.org/drawingml/2006/main" r:embed="Ra25b813bb9b64505"/>
          <a:stretch xmlns:a="http://schemas.openxmlformats.org/drawingml/2006/main"/>
        </p:blipFill>
        <p:spPr>
          <a:xfrm xmlns:a="http://schemas.openxmlformats.org/drawingml/2006/main">
            <a:off x="1172308" y="1504950"/>
            <a:ext cx="9847385" cy="342900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29BABB28-B2A0-4388-8DF2-082CC1B748CA}"/>
              </a:ext>
            </a:extLst>
          </p:cNvPr>
          <p:cNvSpPr>
            <a:spLocks xmlns:a="http://schemas.openxmlformats.org/drawingml/2006/main" noGrp="1"/>
          </p:cNvSpPr>
          <p:nvPr/>
        </p:nvSpPr>
        <p:spPr>
          <a:xfrm xmlns:a="http://schemas.openxmlformats.org/drawingml/2006/main">
            <a:off x="685800" y="5095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CPU y bus APB acceden a registros de control y datos.</a:t>
            </a:r>
          </a:p>
        </p:txBody>
      </p:sp>
      <p:sp>
        <p:nvSpPr>
          <p:cNvPr id="4" name="text-2">
            <a:extLst xmlns:a="http://schemas.openxmlformats.org/drawingml/2006/main">
              <a:ext uri="{FF2B5EF4-FFF2-40B4-BE49-F238E27FC236}">
                <a16:creationId xmlns:a16="http://schemas.microsoft.com/office/drawing/2014/main" id="{BA7487F0-E17F-4BBC-A350-B8B3D4B7D0C2}"/>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FIFO TX/RX separan el acceso de CPU del desplazamiento de bits.</a:t>
            </a:r>
          </a:p>
        </p:txBody>
      </p:sp>
      <p:sp>
        <p:nvSpPr>
          <p:cNvPr id="5" name="text-3">
            <a:extLst xmlns:a="http://schemas.openxmlformats.org/drawingml/2006/main">
              <a:ext uri="{FF2B5EF4-FFF2-40B4-BE49-F238E27FC236}">
                <a16:creationId xmlns:a16="http://schemas.microsoft.com/office/drawing/2014/main" id="{769D6C95-52F6-4C99-B2EA-69D3460AA644}"/>
              </a:ext>
            </a:extLst>
          </p:cNvPr>
          <p:cNvSpPr>
            <a:spLocks xmlns:a="http://schemas.openxmlformats.org/drawingml/2006/main" noGrp="1"/>
          </p:cNvSpPr>
          <p:nvPr/>
        </p:nvSpPr>
        <p:spPr>
          <a:xfrm xmlns:a="http://schemas.openxmlformats.org/drawingml/2006/main">
            <a:off x="685800" y="5857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El divisor usa clk_peri; el multiplexor conecta UART con GP0/GP1.</a:t>
            </a:r>
          </a:p>
        </p:txBody>
      </p:sp>
      <p:sp>
        <p:nvSpPr>
          <p:cNvPr id="6" name="text-4">
            <a:extLst xmlns:a="http://schemas.openxmlformats.org/drawingml/2006/main">
              <a:ext uri="{FF2B5EF4-FFF2-40B4-BE49-F238E27FC236}">
                <a16:creationId xmlns:a16="http://schemas.microsoft.com/office/drawing/2014/main" id="{F2422354-5411-4ABC-B256-6895C42C66DB}"/>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08 / 29</a:t>
            </a:r>
          </a:p>
        </p:txBody>
      </p:sp>
    </p:spTree>
    <p:extLst>
      <p:ext uri="{BB962C8B-B14F-4D97-AF65-F5344CB8AC3E}">
        <p14:creationId xmlns:p14="http://schemas.microsoft.com/office/powerpoint/2010/main" val="448221290"/>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C4E5E4F-4BDB-41F4-B49E-74E9C6323BD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Una trama 8N1 transporta un byte</a:t>
            </a:r>
          </a:p>
        </p:txBody>
      </p:sp>
      <p:pic>
        <p:nvPicPr>
          <p:cNvPr id="2" name="">
            <a:extLst xmlns:a="http://schemas.openxmlformats.org/drawingml/2006/main">
              <a:ext uri="{FF2B5EF4-FFF2-40B4-BE49-F238E27FC236}">
                <a16:creationId xmlns:a16="http://schemas.microsoft.com/office/drawing/2014/main" id="{F3980A8D-B9AE-4062-9819-68055C15A495}"/>
              </a:ext>
            </a:extLst>
          </p:cNvPr>
          <p:cNvPicPr>
            <a:picLocks xmlns:a="http://schemas.openxmlformats.org/drawingml/2006/main" noChangeAspect="1"/>
          </p:cNvPicPr>
          <p:nvPr/>
        </p:nvPicPr>
        <p:blipFill>
          <a:blip xmlns:r="http://schemas.openxmlformats.org/officeDocument/2006/relationships" xmlns:a="http://schemas.openxmlformats.org/drawingml/2006/main" r:embed="R197a4f4bc7b94aae"/>
          <a:stretch xmlns:a="http://schemas.openxmlformats.org/drawingml/2006/main"/>
        </p:blipFill>
        <p:spPr>
          <a:xfrm xmlns:a="http://schemas.openxmlformats.org/drawingml/2006/main">
            <a:off x="1172308" y="1504950"/>
            <a:ext cx="9847385" cy="342900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62CDB52D-A454-48AF-A3C1-23F2517D3B5A}"/>
              </a:ext>
            </a:extLst>
          </p:cNvPr>
          <p:cNvSpPr>
            <a:spLocks xmlns:a="http://schemas.openxmlformats.org/drawingml/2006/main" noGrp="1"/>
          </p:cNvSpPr>
          <p:nvPr/>
        </p:nvSpPr>
        <p:spPr>
          <a:xfrm xmlns:a="http://schemas.openxmlformats.org/drawingml/2006/main">
            <a:off x="685800" y="5095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Inicio: 0 · Datos: 8 bits, menos significativo primero.</a:t>
            </a:r>
          </a:p>
        </p:txBody>
      </p:sp>
      <p:sp>
        <p:nvSpPr>
          <p:cNvPr id="4" name="text-2">
            <a:extLst xmlns:a="http://schemas.openxmlformats.org/drawingml/2006/main">
              <a:ext uri="{FF2B5EF4-FFF2-40B4-BE49-F238E27FC236}">
                <a16:creationId xmlns:a16="http://schemas.microsoft.com/office/drawing/2014/main" id="{5FC9A5A1-4ED7-4ED1-B948-C001521CEF5E}"/>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Paridad: ninguna · Stop: 1 · Reposo lógico: alto.</a:t>
            </a:r>
          </a:p>
        </p:txBody>
      </p:sp>
      <p:sp>
        <p:nvSpPr>
          <p:cNvPr id="5" name="text-3">
            <a:extLst xmlns:a="http://schemas.openxmlformats.org/drawingml/2006/main">
              <a:ext uri="{FF2B5EF4-FFF2-40B4-BE49-F238E27FC236}">
                <a16:creationId xmlns:a16="http://schemas.microsoft.com/office/drawing/2014/main" id="{E8E97F31-982B-468A-BBA0-243C97546614}"/>
              </a:ext>
            </a:extLst>
          </p:cNvPr>
          <p:cNvSpPr>
            <a:spLocks xmlns:a="http://schemas.openxmlformats.org/drawingml/2006/main" noGrp="1"/>
          </p:cNvSpPr>
          <p:nvPr/>
        </p:nvSpPr>
        <p:spPr>
          <a:xfrm xmlns:a="http://schemas.openxmlformats.org/drawingml/2006/main">
            <a:off x="685800" y="5857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9600 bits/s: 104.17 µs/bit y unos 960 bytes/s útiles.</a:t>
            </a:r>
          </a:p>
        </p:txBody>
      </p:sp>
      <p:sp>
        <p:nvSpPr>
          <p:cNvPr id="6" name="text-4">
            <a:extLst xmlns:a="http://schemas.openxmlformats.org/drawingml/2006/main">
              <a:ext uri="{FF2B5EF4-FFF2-40B4-BE49-F238E27FC236}">
                <a16:creationId xmlns:a16="http://schemas.microsoft.com/office/drawing/2014/main" id="{376487E6-D30B-4D36-A68F-83D215B89F7E}"/>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09 / 29</a:t>
            </a:r>
          </a:p>
        </p:txBody>
      </p:sp>
    </p:spTree>
    <p:extLst>
      <p:ext uri="{BB962C8B-B14F-4D97-AF65-F5344CB8AC3E}">
        <p14:creationId xmlns:p14="http://schemas.microsoft.com/office/powerpoint/2010/main" val="2027554287"/>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480509C-3823-4379-9C53-7B8FBA282C4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Opciones de configuración</a:t>
            </a:r>
          </a:p>
        </p:txBody>
      </p:sp>
      <p:sp>
        <p:nvSpPr>
          <p:cNvPr id="2" name="text-1">
            <a:extLst xmlns:a="http://schemas.openxmlformats.org/drawingml/2006/main">
              <a:ext uri="{FF2B5EF4-FFF2-40B4-BE49-F238E27FC236}">
                <a16:creationId xmlns:a16="http://schemas.microsoft.com/office/drawing/2014/main" id="{3AD15E60-EED7-460E-B41C-2E95446A6D35}"/>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25837891-C3FD-4B57-B611-69950C326ACF}"/>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5–8 bits; paridad ninguna, par o impar; 1–2 stop.</a:t>
            </a:r>
          </a:p>
        </p:txBody>
      </p:sp>
      <p:sp>
        <p:nvSpPr>
          <p:cNvPr id="4" name="text-3">
            <a:extLst xmlns:a="http://schemas.openxmlformats.org/drawingml/2006/main">
              <a:ext uri="{FF2B5EF4-FFF2-40B4-BE49-F238E27FC236}">
                <a16:creationId xmlns:a16="http://schemas.microsoft.com/office/drawing/2014/main" id="{39D124A1-AA30-4197-990F-F75F6B919EF5}"/>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6632ABA6-F736-4AB4-B1F1-15CC87DAFCE7}"/>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FIFO, RTS/CTS, interrupciones y DMA según la aplicación.</a:t>
            </a:r>
          </a:p>
        </p:txBody>
      </p:sp>
      <p:sp>
        <p:nvSpPr>
          <p:cNvPr id="6" name="text-5">
            <a:extLst xmlns:a="http://schemas.openxmlformats.org/drawingml/2006/main">
              <a:ext uri="{FF2B5EF4-FFF2-40B4-BE49-F238E27FC236}">
                <a16:creationId xmlns:a16="http://schemas.microsoft.com/office/drawing/2014/main" id="{89D9CC27-14E4-4641-B3E7-106338581E8A}"/>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74A05E22-F776-460E-BAC5-08196F039AD5}"/>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Nuestro enlace usa polling, 9600 8N1 y ningún control de flujo.</a:t>
            </a:r>
          </a:p>
        </p:txBody>
      </p:sp>
      <p:sp>
        <p:nvSpPr>
          <p:cNvPr id="8" name="text-7">
            <a:extLst xmlns:a="http://schemas.openxmlformats.org/drawingml/2006/main">
              <a:ext uri="{FF2B5EF4-FFF2-40B4-BE49-F238E27FC236}">
                <a16:creationId xmlns:a16="http://schemas.microsoft.com/office/drawing/2014/main" id="{5594DD63-5D25-41E9-AB73-14F3EBA2BED2}"/>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10 / 29</a:t>
            </a:r>
          </a:p>
        </p:txBody>
      </p:sp>
    </p:spTree>
    <p:extLst>
      <p:ext uri="{BB962C8B-B14F-4D97-AF65-F5344CB8AC3E}">
        <p14:creationId xmlns:p14="http://schemas.microsoft.com/office/powerpoint/2010/main" val="217128413"/>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B0BDE45-B22E-4AB1-ADD7-51FFF85D573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Dirección base y offset</a:t>
            </a:r>
          </a:p>
        </p:txBody>
      </p:sp>
      <p:sp>
        <p:nvSpPr>
          <p:cNvPr id="2" name="text-1">
            <a:extLst xmlns:a="http://schemas.openxmlformats.org/drawingml/2006/main">
              <a:ext uri="{FF2B5EF4-FFF2-40B4-BE49-F238E27FC236}">
                <a16:creationId xmlns:a16="http://schemas.microsoft.com/office/drawing/2014/main" id="{2C20FEA9-9192-4A0D-9D8F-ECBA764E2924}"/>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ECE330B5-04AC-4312-9192-5F8A3A885B47}"/>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Cada registro ocupa una dirección del mapa de memoria.</a:t>
            </a:r>
          </a:p>
        </p:txBody>
      </p:sp>
      <p:sp>
        <p:nvSpPr>
          <p:cNvPr id="4" name="text-3">
            <a:extLst xmlns:a="http://schemas.openxmlformats.org/drawingml/2006/main">
              <a:ext uri="{FF2B5EF4-FFF2-40B4-BE49-F238E27FC236}">
                <a16:creationId xmlns:a16="http://schemas.microsoft.com/office/drawing/2014/main" id="{2EED870C-DBBC-433E-9405-0CB5FE30D821}"/>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DE712023-C88C-4072-AD60-57106F09105D}"/>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Dirección del registro = UART0_BASE + offset.</a:t>
            </a:r>
          </a:p>
        </p:txBody>
      </p:sp>
      <p:sp>
        <p:nvSpPr>
          <p:cNvPr id="6" name="text-5">
            <a:extLst xmlns:a="http://schemas.openxmlformats.org/drawingml/2006/main">
              <a:ext uri="{FF2B5EF4-FFF2-40B4-BE49-F238E27FC236}">
                <a16:creationId xmlns:a16="http://schemas.microsoft.com/office/drawing/2014/main" id="{FC97C8E7-CC43-42FD-B7DB-F254C00CCD2C}"/>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95B94279-721B-4817-976A-7CCA36BBAA57}"/>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CR en RP2350: 0x40070000 + 0x030 = 0x40070030.</a:t>
            </a:r>
          </a:p>
        </p:txBody>
      </p:sp>
      <p:sp>
        <p:nvSpPr>
          <p:cNvPr id="8" name="text-7">
            <a:extLst xmlns:a="http://schemas.openxmlformats.org/drawingml/2006/main">
              <a:ext uri="{FF2B5EF4-FFF2-40B4-BE49-F238E27FC236}">
                <a16:creationId xmlns:a16="http://schemas.microsoft.com/office/drawing/2014/main" id="{93122ADF-CF54-40D6-9D7C-480D7D594110}"/>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11 / 29</a:t>
            </a:r>
          </a:p>
        </p:txBody>
      </p:sp>
    </p:spTree>
    <p:extLst>
      <p:ext uri="{BB962C8B-B14F-4D97-AF65-F5344CB8AC3E}">
        <p14:creationId xmlns:p14="http://schemas.microsoft.com/office/powerpoint/2010/main" val="1399237453"/>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5F44F079-F6BD-4B8D-8C35-67589901C9C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Registros de datos y estado</a:t>
            </a:r>
          </a:p>
        </p:txBody>
      </p:sp>
      <p:graphicFrame>
        <p:nvGraphicFramePr>
          <p:cNvPr id="2" name="">
            <a:extLst xmlns:a="http://schemas.openxmlformats.org/drawingml/2006/main">
              <a:ext uri="{FF2B5EF4-FFF2-40B4-BE49-F238E27FC236}">
                <a16:creationId xmlns:a16="http://schemas.microsoft.com/office/drawing/2014/main" id="{77CC1BED-D0EA-49DC-B6A9-5864DF6712AE}"/>
              </a:ext>
            </a:extLst>
          </p:cNvPr>
          <p:cNvGraphicFramePr/>
          <p:nvPr/>
        </p:nvGraphicFramePr>
        <p:xfrm>
          <a:off xmlns:a="http://schemas.openxmlformats.org/drawingml/2006/main" x="609600" y="1752600"/>
          <a:ext xmlns:a="http://schemas.openxmlformats.org/drawingml/2006/main" cx="10972800" cy="3429000"/>
        </p:xfrm>
        <a:graphic xmlns:a="http://schemas.openxmlformats.org/drawingml/2006/main">
          <a:graphicData uri="http://schemas.openxmlformats.org/drawingml/2006/table">
            <a:tbl>
              <a:tblPr/>
              <a:tblGrid>
                <a:gridCol w="2619375"/>
                <a:gridCol w="3143250"/>
                <a:gridCol w="5210175"/>
              </a:tblGrid>
              <a:tr h="571500">
                <a:tc>
                  <a:txBody>
                    <a:bodyPr/>
                    <a:lstStyle/>
                    <a:p>
                      <a:r>
                        <a:rPr sz="1800" b="1">
                          <a:solidFill>
                            <a:srgbClr val="FFFFFF"/>
                          </a:solidFill>
                          <a:latin typeface="DejaVu Sans"/>
                          <a:ea typeface="DejaVu Sans"/>
                          <a:cs typeface="DejaVu Sans"/>
                        </a:rPr>
                        <a:t>Registro</a:t>
                      </a:r>
                    </a:p>
                  </a:txBody>
                  <a:tcPr marL="91440" marR="91440" marT="45720" marB="45720">
                    <a:lnL w="9525">
                      <a:solidFill>
                        <a:srgbClr val="C5D1DA"/>
                      </a:solidFill>
                      <a:prstDash val="solid"/>
                    </a:lnL>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Offset</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Uso</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r>
              <a:tr h="571500">
                <a:tc>
                  <a:txBody>
                    <a:bodyPr/>
                    <a:lstStyle/>
                    <a:p>
                      <a:r>
                        <a:rPr sz="1800" b="0">
                          <a:solidFill>
                            <a:srgbClr val="153049"/>
                          </a:solidFill>
                          <a:latin typeface="DejaVu Sans"/>
                          <a:ea typeface="DejaVu Sans"/>
                          <a:cs typeface="DejaVu Sans"/>
                        </a:rPr>
                        <a:t>DR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0x000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Escribir TX / leer RX</a:t>
                      </a:r>
                    </a:p>
                  </a:txBody>
                  <a:tcPr marL="91440" marR="91440" marT="45720" marB="45720">
                    <a:lnR w="9525">
                      <a:solidFill>
                        <a:srgbClr val="C5D1DA"/>
                      </a:solidFill>
                      <a:prstDash val="solid"/>
                    </a:lnR>
                    <a:lnB w="9525">
                      <a:solidFill>
                        <a:srgbClr val="C5D1DA"/>
                      </a:solidFill>
                      <a:prstDash val="solid"/>
                    </a:lnB>
                    <a:solidFill>
                      <a:srgbClr val="FFFFFF"/>
                    </a:solidFill>
                  </a:tcPr>
                </a:tc>
              </a:tr>
              <a:tr h="571500">
                <a:tc>
                  <a:txBody>
                    <a:bodyPr/>
                    <a:lstStyle/>
                    <a:p>
                      <a:r>
                        <a:rPr sz="1800" b="0">
                          <a:solidFill>
                            <a:srgbClr val="153049"/>
                          </a:solidFill>
                          <a:latin typeface="DejaVu Sans"/>
                          <a:ea typeface="DejaVu Sans"/>
                          <a:cs typeface="DejaVu Sans"/>
                        </a:rPr>
                        <a:t>FR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0x018</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RXFE[4], TXFF[5], BUSY[3]</a:t>
                      </a:r>
                    </a:p>
                  </a:txBody>
                  <a:tcPr marL="91440" marR="91440" marT="45720" marB="45720">
                    <a:lnR w="9525">
                      <a:solidFill>
                        <a:srgbClr val="C5D1DA"/>
                      </a:solidFill>
                      <a:prstDash val="solid"/>
                    </a:lnR>
                    <a:lnB w="9525">
                      <a:solidFill>
                        <a:srgbClr val="C5D1DA"/>
                      </a:solidFill>
                      <a:prstDash val="solid"/>
                    </a:lnB>
                    <a:solidFill>
                      <a:srgbClr val="E7EEF3"/>
                    </a:solidFill>
                  </a:tcPr>
                </a:tc>
              </a:tr>
              <a:tr h="571500">
                <a:tc>
                  <a:txBody>
                    <a:bodyPr/>
                    <a:lstStyle/>
                    <a:p>
                      <a:r>
                        <a:rPr sz="1800" b="0">
                          <a:solidFill>
                            <a:srgbClr val="153049"/>
                          </a:solidFill>
                          <a:latin typeface="DejaVu Sans"/>
                          <a:ea typeface="DejaVu Sans"/>
                          <a:cs typeface="DejaVu Sans"/>
                        </a:rPr>
                        <a:t>IBRD / FBRD</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0x024 / 0x028</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Divisor entero y fracción</a:t>
                      </a:r>
                    </a:p>
                  </a:txBody>
                  <a:tcPr marL="91440" marR="91440" marT="45720" marB="45720">
                    <a:lnR w="9525">
                      <a:solidFill>
                        <a:srgbClr val="C5D1DA"/>
                      </a:solidFill>
                      <a:prstDash val="solid"/>
                    </a:lnR>
                    <a:lnB w="9525">
                      <a:solidFill>
                        <a:srgbClr val="C5D1DA"/>
                      </a:solidFill>
                      <a:prstDash val="solid"/>
                    </a:lnB>
                    <a:solidFill>
                      <a:srgbClr val="FFFFFF"/>
                    </a:solidFill>
                  </a:tcPr>
                </a:tc>
              </a:tr>
              <a:tr h="571500">
                <a:tc>
                  <a:txBody>
                    <a:bodyPr/>
                    <a:lstStyle/>
                    <a:p>
                      <a:r>
                        <a:rPr sz="1800" b="0">
                          <a:solidFill>
                            <a:srgbClr val="153049"/>
                          </a:solidFill>
                          <a:latin typeface="DejaVu Sans"/>
                          <a:ea typeface="DejaVu Sans"/>
                          <a:cs typeface="DejaVu Sans"/>
                        </a:rPr>
                        <a:t>LCR_H</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0x02C</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Formato y FIFO</a:t>
                      </a:r>
                    </a:p>
                  </a:txBody>
                  <a:tcPr marL="91440" marR="91440" marT="45720" marB="45720">
                    <a:lnR w="9525">
                      <a:solidFill>
                        <a:srgbClr val="C5D1DA"/>
                      </a:solidFill>
                      <a:prstDash val="solid"/>
                    </a:lnR>
                    <a:lnB w="9525">
                      <a:solidFill>
                        <a:srgbClr val="C5D1DA"/>
                      </a:solidFill>
                      <a:prstDash val="solid"/>
                    </a:lnB>
                    <a:solidFill>
                      <a:srgbClr val="E7EEF3"/>
                    </a:solidFill>
                  </a:tcPr>
                </a:tc>
              </a:tr>
              <a:tr h="571500">
                <a:tc>
                  <a:txBody>
                    <a:bodyPr/>
                    <a:lstStyle/>
                    <a:p>
                      <a:r>
                        <a:rPr sz="1800" b="0">
                          <a:solidFill>
                            <a:srgbClr val="153049"/>
                          </a:solidFill>
                          <a:latin typeface="DejaVu Sans"/>
                          <a:ea typeface="DejaVu Sans"/>
                          <a:cs typeface="DejaVu Sans"/>
                        </a:rPr>
                        <a:t>CR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0x030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Habilitar UART, TX y RX</a:t>
                      </a:r>
                    </a:p>
                  </a:txBody>
                  <a:tcPr marL="91440" marR="91440" marT="45720" marB="45720">
                    <a:lnR w="9525">
                      <a:solidFill>
                        <a:srgbClr val="C5D1DA"/>
                      </a:solidFill>
                      <a:prstDash val="solid"/>
                    </a:lnR>
                    <a:lnB w="9525">
                      <a:solidFill>
                        <a:srgbClr val="C5D1DA"/>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7E8B02E2-3AE5-4DCB-A998-EF070CC62DD5}"/>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12 / 29</a:t>
            </a:r>
          </a:p>
        </p:txBody>
      </p:sp>
    </p:spTree>
    <p:extLst>
      <p:ext uri="{BB962C8B-B14F-4D97-AF65-F5344CB8AC3E}">
        <p14:creationId xmlns:p14="http://schemas.microsoft.com/office/powerpoint/2010/main" val="1458892562"/>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BDF411CE-659A-4ABB-BEDF-ED93DD98BFC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Campos y valores de la aplicación</a:t>
            </a:r>
          </a:p>
        </p:txBody>
      </p:sp>
      <p:graphicFrame>
        <p:nvGraphicFramePr>
          <p:cNvPr id="2" name="">
            <a:extLst xmlns:a="http://schemas.openxmlformats.org/drawingml/2006/main">
              <a:ext uri="{FF2B5EF4-FFF2-40B4-BE49-F238E27FC236}">
                <a16:creationId xmlns:a16="http://schemas.microsoft.com/office/drawing/2014/main" id="{1AE9B6D2-8357-4C27-996C-E8AD59F60B74}"/>
              </a:ext>
            </a:extLst>
          </p:cNvPr>
          <p:cNvGraphicFramePr/>
          <p:nvPr/>
        </p:nvGraphicFramePr>
        <p:xfrm>
          <a:off xmlns:a="http://schemas.openxmlformats.org/drawingml/2006/main" x="609600" y="1752600"/>
          <a:ext xmlns:a="http://schemas.openxmlformats.org/drawingml/2006/main" cx="10972800" cy="3429000"/>
        </p:xfrm>
        <a:graphic xmlns:a="http://schemas.openxmlformats.org/drawingml/2006/main">
          <a:graphicData uri="http://schemas.openxmlformats.org/drawingml/2006/table">
            <a:tbl>
              <a:tblPr/>
              <a:tblGrid>
                <a:gridCol w="2619375"/>
                <a:gridCol w="3143250"/>
                <a:gridCol w="5210175"/>
              </a:tblGrid>
              <a:tr h="571500">
                <a:tc>
                  <a:txBody>
                    <a:bodyPr/>
                    <a:lstStyle/>
                    <a:p>
                      <a:r>
                        <a:rPr sz="1800" b="1">
                          <a:solidFill>
                            <a:srgbClr val="FFFFFF"/>
                          </a:solidFill>
                          <a:latin typeface="DejaVu Sans"/>
                          <a:ea typeface="DejaVu Sans"/>
                          <a:cs typeface="DejaVu Sans"/>
                        </a:rPr>
                        <a:t>Registro</a:t>
                      </a:r>
                    </a:p>
                  </a:txBody>
                  <a:tcPr marL="91440" marR="91440" marT="45720" marB="45720">
                    <a:lnL w="9525">
                      <a:solidFill>
                        <a:srgbClr val="C5D1DA"/>
                      </a:solidFill>
                      <a:prstDash val="solid"/>
                    </a:lnL>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Valor</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Significado</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r>
              <a:tr h="571500">
                <a:tc>
                  <a:txBody>
                    <a:bodyPr/>
                    <a:lstStyle/>
                    <a:p>
                      <a:r>
                        <a:rPr sz="1800" b="0">
                          <a:solidFill>
                            <a:srgbClr val="153049"/>
                          </a:solidFill>
                          <a:latin typeface="DejaVu Sans"/>
                          <a:ea typeface="DejaVu Sans"/>
                          <a:cs typeface="DejaVu Sans"/>
                        </a:rPr>
                        <a:t>LCR_H</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0x70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WLEN=3; FEN=1; PEN=0; STP2=0</a:t>
                      </a:r>
                    </a:p>
                  </a:txBody>
                  <a:tcPr marL="91440" marR="91440" marT="45720" marB="45720">
                    <a:lnR w="9525">
                      <a:solidFill>
                        <a:srgbClr val="C5D1DA"/>
                      </a:solidFill>
                      <a:prstDash val="solid"/>
                    </a:lnR>
                    <a:lnB w="9525">
                      <a:solidFill>
                        <a:srgbClr val="C5D1DA"/>
                      </a:solidFill>
                      <a:prstDash val="solid"/>
                    </a:lnB>
                    <a:solidFill>
                      <a:srgbClr val="FFFFFF"/>
                    </a:solidFill>
                  </a:tcPr>
                </a:tc>
              </a:tr>
              <a:tr h="571500">
                <a:tc>
                  <a:txBody>
                    <a:bodyPr/>
                    <a:lstStyle/>
                    <a:p>
                      <a:r>
                        <a:rPr sz="1800" b="0">
                          <a:solidFill>
                            <a:srgbClr val="153049"/>
                          </a:solidFill>
                          <a:latin typeface="DejaVu Sans"/>
                          <a:ea typeface="DejaVu Sans"/>
                          <a:cs typeface="DejaVu Sans"/>
                        </a:rPr>
                        <a:t>CR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0x301</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RXE=1; TXE=1; UARTEN=1</a:t>
                      </a:r>
                    </a:p>
                  </a:txBody>
                  <a:tcPr marL="91440" marR="91440" marT="45720" marB="45720">
                    <a:lnR w="9525">
                      <a:solidFill>
                        <a:srgbClr val="C5D1DA"/>
                      </a:solidFill>
                      <a:prstDash val="solid"/>
                    </a:lnR>
                    <a:lnB w="9525">
                      <a:solidFill>
                        <a:srgbClr val="C5D1DA"/>
                      </a:solidFill>
                      <a:prstDash val="solid"/>
                    </a:lnB>
                    <a:solidFill>
                      <a:srgbClr val="E7EEF3"/>
                    </a:solidFill>
                  </a:tcPr>
                </a:tc>
              </a:tr>
              <a:tr h="571500">
                <a:tc>
                  <a:txBody>
                    <a:bodyPr/>
                    <a:lstStyle/>
                    <a:p>
                      <a:r>
                        <a:rPr sz="1800" b="0">
                          <a:solidFill>
                            <a:srgbClr val="153049"/>
                          </a:solidFill>
                          <a:latin typeface="DejaVu Sans"/>
                          <a:ea typeface="DejaVu Sans"/>
                          <a:cs typeface="DejaVu Sans"/>
                        </a:rPr>
                        <a:t>IMSC / DMACR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 / 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Sin IRQ UART ni DMA</a:t>
                      </a:r>
                    </a:p>
                  </a:txBody>
                  <a:tcPr marL="91440" marR="91440" marT="45720" marB="45720">
                    <a:lnR w="9525">
                      <a:solidFill>
                        <a:srgbClr val="C5D1DA"/>
                      </a:solidFill>
                      <a:prstDash val="solid"/>
                    </a:lnR>
                    <a:lnB w="9525">
                      <a:solidFill>
                        <a:srgbClr val="C5D1DA"/>
                      </a:solidFill>
                      <a:prstDash val="solid"/>
                    </a:lnB>
                    <a:solidFill>
                      <a:srgbClr val="FFFFFF"/>
                    </a:solidFill>
                  </a:tcPr>
                </a:tc>
              </a:tr>
              <a:tr h="571500">
                <a:tc>
                  <a:txBody>
                    <a:bodyPr/>
                    <a:lstStyle/>
                    <a:p>
                      <a:r>
                        <a:rPr sz="1800" b="0">
                          <a:solidFill>
                            <a:srgbClr val="153049"/>
                          </a:solidFill>
                          <a:latin typeface="DejaVu Sans"/>
                          <a:ea typeface="DejaVu Sans"/>
                          <a:cs typeface="DejaVu Sans"/>
                        </a:rPr>
                        <a:t>ICR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0x7FF</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Limpia interrupciones pendientes</a:t>
                      </a:r>
                    </a:p>
                  </a:txBody>
                  <a:tcPr marL="91440" marR="91440" marT="45720" marB="45720">
                    <a:lnR w="9525">
                      <a:solidFill>
                        <a:srgbClr val="C5D1DA"/>
                      </a:solidFill>
                      <a:prstDash val="solid"/>
                    </a:lnR>
                    <a:lnB w="9525">
                      <a:solidFill>
                        <a:srgbClr val="C5D1DA"/>
                      </a:solidFill>
                      <a:prstDash val="solid"/>
                    </a:lnB>
                    <a:solidFill>
                      <a:srgbClr val="E7EEF3"/>
                    </a:solidFill>
                  </a:tcPr>
                </a:tc>
              </a:tr>
              <a:tr h="571500">
                <a:tc>
                  <a:txBody>
                    <a:bodyPr/>
                    <a:lstStyle/>
                    <a:p>
                      <a:r>
                        <a:rPr sz="1800" b="0">
                          <a:solidFill>
                            <a:srgbClr val="153049"/>
                          </a:solidFill>
                          <a:latin typeface="DejaVu Sans"/>
                          <a:ea typeface="DejaVu Sans"/>
                          <a:cs typeface="DejaVu Sans"/>
                        </a:rPr>
                        <a:t>RSR / ECR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Leer / escribir</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Estado / limpieza de errores</a:t>
                      </a:r>
                    </a:p>
                  </a:txBody>
                  <a:tcPr marL="91440" marR="91440" marT="45720" marB="45720">
                    <a:lnR w="9525">
                      <a:solidFill>
                        <a:srgbClr val="C5D1DA"/>
                      </a:solidFill>
                      <a:prstDash val="solid"/>
                    </a:lnR>
                    <a:lnB w="9525">
                      <a:solidFill>
                        <a:srgbClr val="C5D1DA"/>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05D6AA30-A4CA-4532-A327-94CB100458EA}"/>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13 / 29</a:t>
            </a:r>
          </a:p>
        </p:txBody>
      </p:sp>
    </p:spTree>
    <p:extLst>
      <p:ext uri="{BB962C8B-B14F-4D97-AF65-F5344CB8AC3E}">
        <p14:creationId xmlns:p14="http://schemas.microsoft.com/office/powerpoint/2010/main" val="964502649"/>
      </p:ext>
    </p:extLst>
  </p:cSld>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5FE48D9-B771-4BB7-8195-10A21F67B5DD}"/>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Un puntero accede al registro</a:t>
            </a:r>
          </a:p>
        </p:txBody>
      </p:sp>
      <p:sp>
        <p:nvSpPr>
          <p:cNvPr id="2" name="text-1">
            <a:extLst xmlns:a="http://schemas.openxmlformats.org/drawingml/2006/main">
              <a:ext uri="{FF2B5EF4-FFF2-40B4-BE49-F238E27FC236}">
                <a16:creationId xmlns:a16="http://schemas.microsoft.com/office/drawing/2014/main" id="{9A28E599-3AC3-474B-AC79-409CFFB85F51}"/>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36DBF6E8-D0DE-48B5-8526-BD769821438A}"/>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volatile uint32_t *cr =</a:t>
            </a:r>
          </a:p>
        </p:txBody>
      </p:sp>
      <p:sp>
        <p:nvSpPr>
          <p:cNvPr id="4" name="text-3">
            <a:extLst xmlns:a="http://schemas.openxmlformats.org/drawingml/2006/main">
              <a:ext uri="{FF2B5EF4-FFF2-40B4-BE49-F238E27FC236}">
                <a16:creationId xmlns:a16="http://schemas.microsoft.com/office/drawing/2014/main" id="{AAB42F51-F9C7-4B78-96D4-C7FD3D5A5D65}"/>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19A0C018-70A8-447D-8741-CD6D66D7521C}"/>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    (volatile uint32_t *)(UART0_BASE + 0x030u);</a:t>
            </a:r>
          </a:p>
        </p:txBody>
      </p:sp>
      <p:sp>
        <p:nvSpPr>
          <p:cNvPr id="6" name="text-5">
            <a:extLst xmlns:a="http://schemas.openxmlformats.org/drawingml/2006/main">
              <a:ext uri="{FF2B5EF4-FFF2-40B4-BE49-F238E27FC236}">
                <a16:creationId xmlns:a16="http://schemas.microsoft.com/office/drawing/2014/main" id="{60EEE2C4-E2EC-49FC-8FE9-2DDFE4F2D60D}"/>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7DB2A3DF-7B44-41C7-B814-FB9F3FBE1E13}"/>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*cr = (1u &lt;&lt; 9) | (1u &lt;&lt; 8) | 1u;</a:t>
            </a:r>
          </a:p>
        </p:txBody>
      </p:sp>
      <p:sp>
        <p:nvSpPr>
          <p:cNvPr id="8" name="text-7">
            <a:extLst xmlns:a="http://schemas.openxmlformats.org/drawingml/2006/main">
              <a:ext uri="{FF2B5EF4-FFF2-40B4-BE49-F238E27FC236}">
                <a16:creationId xmlns:a16="http://schemas.microsoft.com/office/drawing/2014/main" id="{EDAA6F53-7ECE-447A-A952-2A627BBB8A74}"/>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14 / 29</a:t>
            </a:r>
          </a:p>
        </p:txBody>
      </p:sp>
    </p:spTree>
    <p:extLst>
      <p:ext uri="{BB962C8B-B14F-4D97-AF65-F5344CB8AC3E}">
        <p14:creationId xmlns:p14="http://schemas.microsoft.com/office/powerpoint/2010/main" val="475538663"/>
      </p:ext>
    </p:extLst>
  </p:cSld>
</p:sld>
</file>

<file path=ppt/slides/slide1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92D5AA2-6FBE-420C-94BF-3934CEC98B5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Inicialización por registros</a:t>
            </a:r>
          </a:p>
        </p:txBody>
      </p:sp>
      <p:sp>
        <p:nvSpPr>
          <p:cNvPr id="2" name="text-1">
            <a:extLst xmlns:a="http://schemas.openxmlformats.org/drawingml/2006/main">
              <a:ext uri="{FF2B5EF4-FFF2-40B4-BE49-F238E27FC236}">
                <a16:creationId xmlns:a16="http://schemas.microsoft.com/office/drawing/2014/main" id="{F6FD85E4-899E-4058-9076-53A10DE8DBCC}"/>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DBE5D2CB-4F82-49B3-B7F3-67A89CB9E336}"/>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Reset UART0 y espera de RESET_DONE.</a:t>
            </a:r>
          </a:p>
        </p:txBody>
      </p:sp>
      <p:sp>
        <p:nvSpPr>
          <p:cNvPr id="4" name="text-3">
            <a:extLst xmlns:a="http://schemas.openxmlformats.org/drawingml/2006/main">
              <a:ext uri="{FF2B5EF4-FFF2-40B4-BE49-F238E27FC236}">
                <a16:creationId xmlns:a16="http://schemas.microsoft.com/office/drawing/2014/main" id="{117C5807-25D0-4520-8E33-FD251C149959}"/>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DC400F30-B8E8-439A-B9A2-3F0EEF562709}"/>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IBRD y FBRD calculan baud; LCR_H aplica formato.</a:t>
            </a:r>
          </a:p>
        </p:txBody>
      </p:sp>
      <p:sp>
        <p:nvSpPr>
          <p:cNvPr id="6" name="text-5">
            <a:extLst xmlns:a="http://schemas.openxmlformats.org/drawingml/2006/main">
              <a:ext uri="{FF2B5EF4-FFF2-40B4-BE49-F238E27FC236}">
                <a16:creationId xmlns:a16="http://schemas.microsoft.com/office/drawing/2014/main" id="{353817E5-A02D-49C6-BC0C-3278A56FCE9D}"/>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EDA00B25-1183-4546-991C-716D850B5226}"/>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CR habilita recepción y transmisión después de configurar.</a:t>
            </a:r>
          </a:p>
        </p:txBody>
      </p:sp>
      <p:sp>
        <p:nvSpPr>
          <p:cNvPr id="8" name="text-7">
            <a:extLst xmlns:a="http://schemas.openxmlformats.org/drawingml/2006/main">
              <a:ext uri="{FF2B5EF4-FFF2-40B4-BE49-F238E27FC236}">
                <a16:creationId xmlns:a16="http://schemas.microsoft.com/office/drawing/2014/main" id="{7C17C50B-B5B5-4AA2-A830-0CAE6E18D19B}"/>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15 / 29</a:t>
            </a:r>
          </a:p>
        </p:txBody>
      </p:sp>
    </p:spTree>
    <p:extLst>
      <p:ext uri="{BB962C8B-B14F-4D97-AF65-F5344CB8AC3E}">
        <p14:creationId xmlns:p14="http://schemas.microsoft.com/office/powerpoint/2010/main" val="1298321103"/>
      </p:ext>
    </p:extLst>
  </p:cSld>
</p:sld>
</file>

<file path=ppt/slides/slide1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9A139EE-47BC-4F25-92A6-30458E2A1FC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El SDK configura el mismo periférico</a:t>
            </a:r>
          </a:p>
        </p:txBody>
      </p:sp>
      <p:sp>
        <p:nvSpPr>
          <p:cNvPr id="2" name="text-1">
            <a:extLst xmlns:a="http://schemas.openxmlformats.org/drawingml/2006/main">
              <a:ext uri="{FF2B5EF4-FFF2-40B4-BE49-F238E27FC236}">
                <a16:creationId xmlns:a16="http://schemas.microsoft.com/office/drawing/2014/main" id="{733A1181-67D7-4AAD-8D0B-E5C9549E8D47}"/>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6A5481A2-7A92-4268-9223-329678967C36}"/>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uart_init(uart0, 9600);</a:t>
            </a:r>
          </a:p>
        </p:txBody>
      </p:sp>
      <p:sp>
        <p:nvSpPr>
          <p:cNvPr id="4" name="text-3">
            <a:extLst xmlns:a="http://schemas.openxmlformats.org/drawingml/2006/main">
              <a:ext uri="{FF2B5EF4-FFF2-40B4-BE49-F238E27FC236}">
                <a16:creationId xmlns:a16="http://schemas.microsoft.com/office/drawing/2014/main" id="{B9DE9488-4585-4B99-AF18-2F5BD18D62C0}"/>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1D95E1B0-E298-4A7B-A6A9-72E340CECE66}"/>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uart_set_format(uart0, 8, 1, UART_PARITY_NONE);</a:t>
            </a:r>
          </a:p>
        </p:txBody>
      </p:sp>
      <p:sp>
        <p:nvSpPr>
          <p:cNvPr id="6" name="text-5">
            <a:extLst xmlns:a="http://schemas.openxmlformats.org/drawingml/2006/main">
              <a:ext uri="{FF2B5EF4-FFF2-40B4-BE49-F238E27FC236}">
                <a16:creationId xmlns:a16="http://schemas.microsoft.com/office/drawing/2014/main" id="{1688BC68-5A9C-47EE-BDA3-77169A6508FF}"/>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9E425B35-B8CB-4CF3-8FBA-8141837297DC}"/>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uart_set_hw_flow(uart0, false, false);</a:t>
            </a:r>
          </a:p>
        </p:txBody>
      </p:sp>
      <p:sp>
        <p:nvSpPr>
          <p:cNvPr id="8" name="text-7">
            <a:extLst xmlns:a="http://schemas.openxmlformats.org/drawingml/2006/main">
              <a:ext uri="{FF2B5EF4-FFF2-40B4-BE49-F238E27FC236}">
                <a16:creationId xmlns:a16="http://schemas.microsoft.com/office/drawing/2014/main" id="{DDE34D9D-17FC-4E92-8953-9D98FB5BBD04}"/>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16 / 29</a:t>
            </a:r>
          </a:p>
        </p:txBody>
      </p:sp>
    </p:spTree>
    <p:extLst>
      <p:ext uri="{BB962C8B-B14F-4D97-AF65-F5344CB8AC3E}">
        <p14:creationId xmlns:p14="http://schemas.microsoft.com/office/powerpoint/2010/main" val="213889466"/>
      </p:ext>
    </p:extLst>
  </p:cSld>
</p:sld>
</file>

<file path=ppt/slides/slide1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821620D-84CA-4BCD-8DB3-864E58DEE5D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Transmitir y recibir en ambos modos</a:t>
            </a:r>
          </a:p>
        </p:txBody>
      </p:sp>
      <p:graphicFrame>
        <p:nvGraphicFramePr>
          <p:cNvPr id="2" name="">
            <a:extLst xmlns:a="http://schemas.openxmlformats.org/drawingml/2006/main">
              <a:ext uri="{FF2B5EF4-FFF2-40B4-BE49-F238E27FC236}">
                <a16:creationId xmlns:a16="http://schemas.microsoft.com/office/drawing/2014/main" id="{B440EC19-F070-4721-A860-DDE6EC0B5B74}"/>
              </a:ext>
            </a:extLst>
          </p:cNvPr>
          <p:cNvGraphicFramePr/>
          <p:nvPr/>
        </p:nvGraphicFramePr>
        <p:xfrm>
          <a:off xmlns:a="http://schemas.openxmlformats.org/drawingml/2006/main" x="609600" y="1752600"/>
          <a:ext xmlns:a="http://schemas.openxmlformats.org/drawingml/2006/main" cx="10972800" cy="3429000"/>
        </p:xfrm>
        <a:graphic xmlns:a="http://schemas.openxmlformats.org/drawingml/2006/main">
          <a:graphicData uri="http://schemas.openxmlformats.org/drawingml/2006/table">
            <a:tbl>
              <a:tblPr/>
              <a:tblGrid>
                <a:gridCol w="2619375"/>
                <a:gridCol w="3143250"/>
                <a:gridCol w="5210175"/>
              </a:tblGrid>
              <a:tr h="685800">
                <a:tc>
                  <a:txBody>
                    <a:bodyPr/>
                    <a:lstStyle/>
                    <a:p>
                      <a:r>
                        <a:rPr sz="1800" b="1">
                          <a:solidFill>
                            <a:srgbClr val="FFFFFF"/>
                          </a:solidFill>
                          <a:latin typeface="DejaVu Sans"/>
                          <a:ea typeface="DejaVu Sans"/>
                          <a:cs typeface="DejaVu Sans"/>
                        </a:rPr>
                        <a:t>Acción</a:t>
                      </a:r>
                    </a:p>
                  </a:txBody>
                  <a:tcPr marL="91440" marR="91440" marT="45720" marB="45720">
                    <a:lnL w="9525">
                      <a:solidFill>
                        <a:srgbClr val="C5D1DA"/>
                      </a:solidFill>
                      <a:prstDash val="solid"/>
                    </a:lnL>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Registros</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Pico SDK</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r>
              <a:tr h="685800">
                <a:tc>
                  <a:txBody>
                    <a:bodyPr/>
                    <a:lstStyle/>
                    <a:p>
                      <a:r>
                        <a:rPr sz="1800" b="0">
                          <a:solidFill>
                            <a:srgbClr val="153049"/>
                          </a:solidFill>
                          <a:latin typeface="DejaVu Sans"/>
                          <a:ea typeface="DejaVu Sans"/>
                          <a:cs typeface="DejaVu Sans"/>
                        </a:rPr>
                        <a:t>Transmitir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Esperar TXFF=0, escribir DR</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uart_putc_raw</a:t>
                      </a:r>
                    </a:p>
                  </a:txBody>
                  <a:tcPr marL="91440" marR="91440" marT="45720" marB="45720">
                    <a:lnR w="9525">
                      <a:solidFill>
                        <a:srgbClr val="C5D1DA"/>
                      </a:solidFill>
                      <a:prstDash val="solid"/>
                    </a:lnR>
                    <a:lnB w="9525">
                      <a:solidFill>
                        <a:srgbClr val="C5D1DA"/>
                      </a:solidFill>
                      <a:prstDash val="solid"/>
                    </a:lnB>
                    <a:solidFill>
                      <a:srgbClr val="FFFFFF"/>
                    </a:solidFill>
                  </a:tcPr>
                </a:tc>
              </a:tr>
              <a:tr h="685800">
                <a:tc>
                  <a:txBody>
                    <a:bodyPr/>
                    <a:lstStyle/>
                    <a:p>
                      <a:r>
                        <a:rPr sz="1800" b="0">
                          <a:solidFill>
                            <a:srgbClr val="153049"/>
                          </a:solidFill>
                          <a:latin typeface="DejaVu Sans"/>
                          <a:ea typeface="DejaVu Sans"/>
                          <a:cs typeface="DejaVu Sans"/>
                        </a:rPr>
                        <a:t>Recibir</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Esperar RXFE=0, leer DR</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uart_getc</a:t>
                      </a:r>
                    </a:p>
                  </a:txBody>
                  <a:tcPr marL="91440" marR="91440" marT="45720" marB="45720">
                    <a:lnR w="9525">
                      <a:solidFill>
                        <a:srgbClr val="C5D1DA"/>
                      </a:solidFill>
                      <a:prstDash val="solid"/>
                    </a:lnR>
                    <a:lnB w="9525">
                      <a:solidFill>
                        <a:srgbClr val="C5D1DA"/>
                      </a:solidFill>
                      <a:prstDash val="solid"/>
                    </a:lnB>
                    <a:solidFill>
                      <a:srgbClr val="E7EEF3"/>
                    </a:solidFill>
                  </a:tcPr>
                </a:tc>
              </a:tr>
              <a:tr h="685800">
                <a:tc>
                  <a:txBody>
                    <a:bodyPr/>
                    <a:lstStyle/>
                    <a:p>
                      <a:r>
                        <a:rPr sz="1800" b="0">
                          <a:solidFill>
                            <a:srgbClr val="153049"/>
                          </a:solidFill>
                          <a:latin typeface="DejaVu Sans"/>
                          <a:ea typeface="DejaVu Sans"/>
                          <a:cs typeface="DejaVu Sans"/>
                        </a:rPr>
                        <a:t>Terminar TX</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Esperar BUSY=0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uart_tx_wait_blocking</a:t>
                      </a:r>
                    </a:p>
                  </a:txBody>
                  <a:tcPr marL="91440" marR="91440" marT="45720" marB="45720">
                    <a:lnR w="9525">
                      <a:solidFill>
                        <a:srgbClr val="C5D1DA"/>
                      </a:solidFill>
                      <a:prstDash val="solid"/>
                    </a:lnR>
                    <a:lnB w="9525">
                      <a:solidFill>
                        <a:srgbClr val="C5D1DA"/>
                      </a:solidFill>
                      <a:prstDash val="solid"/>
                    </a:lnB>
                    <a:solidFill>
                      <a:srgbClr val="FFFFFF"/>
                    </a:solidFill>
                  </a:tcPr>
                </a:tc>
              </a:tr>
              <a:tr h="685800">
                <a:tc>
                  <a:txBody>
                    <a:bodyPr/>
                    <a:lstStyle/>
                    <a:p>
                      <a:r>
                        <a:rPr sz="1800" b="0">
                          <a:solidFill>
                            <a:srgbClr val="153049"/>
                          </a:solidFill>
                          <a:latin typeface="DejaVu Sans"/>
                          <a:ea typeface="DejaVu Sans"/>
                          <a:cs typeface="DejaVu Sans"/>
                        </a:rPr>
                        <a:t>Configurar pines</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Infraestructura compartida</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gpio_set_function</a:t>
                      </a:r>
                    </a:p>
                  </a:txBody>
                  <a:tcPr marL="91440" marR="91440" marT="45720" marB="45720">
                    <a:lnR w="9525">
                      <a:solidFill>
                        <a:srgbClr val="C5D1DA"/>
                      </a:solidFill>
                      <a:prstDash val="solid"/>
                    </a:lnR>
                    <a:lnB w="9525">
                      <a:solidFill>
                        <a:srgbClr val="C5D1DA"/>
                      </a:solidFill>
                      <a:prstDash val="solid"/>
                    </a:lnB>
                    <a:solidFill>
                      <a:srgbClr val="E7EEF3"/>
                    </a:solidFill>
                  </a:tcPr>
                </a:tc>
              </a:tr>
            </a:tbl>
          </a:graphicData>
        </a:graphic>
      </p:graphicFrame>
      <p:sp>
        <p:nvSpPr>
          <p:cNvPr id="3" name="text-1">
            <a:extLst xmlns:a="http://schemas.openxmlformats.org/drawingml/2006/main">
              <a:ext uri="{FF2B5EF4-FFF2-40B4-BE49-F238E27FC236}">
                <a16:creationId xmlns:a16="http://schemas.microsoft.com/office/drawing/2014/main" id="{3FE76DC3-1A73-4E03-BBBF-B0DD5F29C3CE}"/>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17 / 29</a:t>
            </a:r>
          </a:p>
        </p:txBody>
      </p:sp>
    </p:spTree>
    <p:extLst>
      <p:ext uri="{BB962C8B-B14F-4D97-AF65-F5344CB8AC3E}">
        <p14:creationId xmlns:p14="http://schemas.microsoft.com/office/powerpoint/2010/main" val="897066984"/>
      </p:ext>
    </p:extLst>
  </p:cSld>
</p:sld>
</file>

<file path=ppt/slides/slide1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2462A1B-CB54-440F-8604-DD7C9940FEF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Qué abstrae el SDK</a:t>
            </a:r>
          </a:p>
        </p:txBody>
      </p:sp>
      <p:sp>
        <p:nvSpPr>
          <p:cNvPr id="2" name="text-1">
            <a:extLst xmlns:a="http://schemas.openxmlformats.org/drawingml/2006/main">
              <a:ext uri="{FF2B5EF4-FFF2-40B4-BE49-F238E27FC236}">
                <a16:creationId xmlns:a16="http://schemas.microsoft.com/office/drawing/2014/main" id="{778C4283-0001-462E-B67D-AE9921F34004}"/>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BC940CF5-F276-4EC2-AABE-A944781DF844}"/>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Nombres de funciones y macros sustituyen direcciones manuales.</a:t>
            </a:r>
          </a:p>
        </p:txBody>
      </p:sp>
      <p:sp>
        <p:nvSpPr>
          <p:cNvPr id="4" name="text-3">
            <a:extLst xmlns:a="http://schemas.openxmlformats.org/drawingml/2006/main">
              <a:ext uri="{FF2B5EF4-FFF2-40B4-BE49-F238E27FC236}">
                <a16:creationId xmlns:a16="http://schemas.microsoft.com/office/drawing/2014/main" id="{43D9B74C-E14D-45C3-BF8B-C667D6A439EF}"/>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9588F335-9E28-4F71-A25B-05440A017B51}"/>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El código resulta más portable entre familias.</a:t>
            </a:r>
          </a:p>
        </p:txBody>
      </p:sp>
      <p:sp>
        <p:nvSpPr>
          <p:cNvPr id="6" name="text-5">
            <a:extLst xmlns:a="http://schemas.openxmlformats.org/drawingml/2006/main">
              <a:ext uri="{FF2B5EF4-FFF2-40B4-BE49-F238E27FC236}">
                <a16:creationId xmlns:a16="http://schemas.microsoft.com/office/drawing/2014/main" id="{7FFAB4CA-0341-40A1-988D-6D35E1949259}"/>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F0F1443C-F65F-49EC-B0F6-EE97E767984B}"/>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Los registros siguen siendo la base del funcionamiento.</a:t>
            </a:r>
          </a:p>
        </p:txBody>
      </p:sp>
      <p:sp>
        <p:nvSpPr>
          <p:cNvPr id="8" name="text-7">
            <a:extLst xmlns:a="http://schemas.openxmlformats.org/drawingml/2006/main">
              <a:ext uri="{FF2B5EF4-FFF2-40B4-BE49-F238E27FC236}">
                <a16:creationId xmlns:a16="http://schemas.microsoft.com/office/drawing/2014/main" id="{2503738E-AF8E-4A23-86CF-DB806DAED706}"/>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18 / 29</a:t>
            </a:r>
          </a:p>
        </p:txBody>
      </p:sp>
    </p:spTree>
    <p:extLst>
      <p:ext uri="{BB962C8B-B14F-4D97-AF65-F5344CB8AC3E}">
        <p14:creationId xmlns:p14="http://schemas.microsoft.com/office/powerpoint/2010/main" val="889121306"/>
      </p:ext>
    </p:extLst>
  </p:cSld>
</p:sld>
</file>

<file path=ppt/slides/slide1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C1A903CB-70C9-4C55-A221-CA10824F679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RP2040 y RP2350 cambian de mapa</a:t>
            </a:r>
          </a:p>
        </p:txBody>
      </p:sp>
      <p:graphicFrame>
        <p:nvGraphicFramePr>
          <p:cNvPr id="2" name="">
            <a:extLst xmlns:a="http://schemas.openxmlformats.org/drawingml/2006/main">
              <a:ext uri="{FF2B5EF4-FFF2-40B4-BE49-F238E27FC236}">
                <a16:creationId xmlns:a16="http://schemas.microsoft.com/office/drawing/2014/main" id="{95109C59-5801-4496-9FC4-00653B19BE25}"/>
              </a:ext>
            </a:extLst>
          </p:cNvPr>
          <p:cNvGraphicFramePr/>
          <p:nvPr/>
        </p:nvGraphicFramePr>
        <p:xfrm>
          <a:off xmlns:a="http://schemas.openxmlformats.org/drawingml/2006/main" x="609600" y="1752600"/>
          <a:ext xmlns:a="http://schemas.openxmlformats.org/drawingml/2006/main" cx="10972800" cy="3429000"/>
        </p:xfrm>
        <a:graphic xmlns:a="http://schemas.openxmlformats.org/drawingml/2006/main">
          <a:graphicData uri="http://schemas.openxmlformats.org/drawingml/2006/table">
            <a:tbl>
              <a:tblPr/>
              <a:tblGrid>
                <a:gridCol w="2619375"/>
                <a:gridCol w="3143250"/>
                <a:gridCol w="5210175"/>
              </a:tblGrid>
              <a:tr h="571500">
                <a:tc>
                  <a:txBody>
                    <a:bodyPr/>
                    <a:lstStyle/>
                    <a:p>
                      <a:r>
                        <a:rPr sz="1800" b="1">
                          <a:solidFill>
                            <a:srgbClr val="FFFFFF"/>
                          </a:solidFill>
                          <a:latin typeface="DejaVu Sans"/>
                          <a:ea typeface="DejaVu Sans"/>
                          <a:cs typeface="DejaVu Sans"/>
                        </a:rPr>
                        <a:t>Elemento</a:t>
                      </a:r>
                    </a:p>
                  </a:txBody>
                  <a:tcPr marL="91440" marR="91440" marT="45720" marB="45720">
                    <a:lnL w="9525">
                      <a:solidFill>
                        <a:srgbClr val="C5D1DA"/>
                      </a:solidFill>
                      <a:prstDash val="solid"/>
                    </a:lnL>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RP2040</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c>
                  <a:txBody>
                    <a:bodyPr/>
                    <a:lstStyle/>
                    <a:p>
                      <a:r>
                        <a:rPr sz="1800" b="1">
                          <a:solidFill>
                            <a:srgbClr val="FFFFFF"/>
                          </a:solidFill>
                          <a:latin typeface="DejaVu Sans"/>
                          <a:ea typeface="DejaVu Sans"/>
                          <a:cs typeface="DejaVu Sans"/>
                        </a:rPr>
                        <a:t>RP2350</a:t>
                      </a:r>
                    </a:p>
                  </a:txBody>
                  <a:tcPr marL="91440" marR="91440" marT="45720" marB="45720">
                    <a:lnR w="9525">
                      <a:solidFill>
                        <a:srgbClr val="C5D1DA"/>
                      </a:solidFill>
                      <a:prstDash val="solid"/>
                    </a:lnR>
                    <a:lnT w="9525">
                      <a:solidFill>
                        <a:srgbClr val="C5D1DA"/>
                      </a:solidFill>
                      <a:prstDash val="solid"/>
                    </a:lnT>
                    <a:lnB w="9525">
                      <a:solidFill>
                        <a:srgbClr val="C5D1DA"/>
                      </a:solidFill>
                      <a:prstDash val="solid"/>
                    </a:lnB>
                    <a:solidFill>
                      <a:srgbClr val="153049"/>
                    </a:solidFill>
                  </a:tcPr>
                </a:tc>
              </a:tr>
              <a:tr h="571500">
                <a:tc>
                  <a:txBody>
                    <a:bodyPr/>
                    <a:lstStyle/>
                    <a:p>
                      <a:r>
                        <a:rPr sz="1800" b="0">
                          <a:solidFill>
                            <a:srgbClr val="153049"/>
                          </a:solidFill>
                          <a:latin typeface="DejaVu Sans"/>
                          <a:ea typeface="DejaVu Sans"/>
                          <a:cs typeface="DejaVu Sans"/>
                        </a:rPr>
                        <a:t>UART0_BASE</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0x40034000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0x40070000</a:t>
                      </a:r>
                    </a:p>
                  </a:txBody>
                  <a:tcPr marL="91440" marR="91440" marT="45720" marB="45720">
                    <a:lnR w="9525">
                      <a:solidFill>
                        <a:srgbClr val="C5D1DA"/>
                      </a:solidFill>
                      <a:prstDash val="solid"/>
                    </a:lnR>
                    <a:lnB w="9525">
                      <a:solidFill>
                        <a:srgbClr val="C5D1DA"/>
                      </a:solidFill>
                      <a:prstDash val="solid"/>
                    </a:lnB>
                    <a:solidFill>
                      <a:srgbClr val="FFFFFF"/>
                    </a:solidFill>
                  </a:tcPr>
                </a:tc>
              </a:tr>
              <a:tr h="571500">
                <a:tc>
                  <a:txBody>
                    <a:bodyPr/>
                    <a:lstStyle/>
                    <a:p>
                      <a:r>
                        <a:rPr sz="1800" b="0">
                          <a:solidFill>
                            <a:srgbClr val="153049"/>
                          </a:solidFill>
                          <a:latin typeface="DejaVu Sans"/>
                          <a:ea typeface="DejaVu Sans"/>
                          <a:cs typeface="DejaVu Sans"/>
                        </a:rPr>
                        <a:t>UART1_BASE</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0x40038000</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0x40078000</a:t>
                      </a:r>
                    </a:p>
                  </a:txBody>
                  <a:tcPr marL="91440" marR="91440" marT="45720" marB="45720">
                    <a:lnR w="9525">
                      <a:solidFill>
                        <a:srgbClr val="C5D1DA"/>
                      </a:solidFill>
                      <a:prstDash val="solid"/>
                    </a:lnR>
                    <a:lnB w="9525">
                      <a:solidFill>
                        <a:srgbClr val="C5D1DA"/>
                      </a:solidFill>
                      <a:prstDash val="solid"/>
                    </a:lnB>
                    <a:solidFill>
                      <a:srgbClr val="E7EEF3"/>
                    </a:solidFill>
                  </a:tcPr>
                </a:tc>
              </a:tr>
              <a:tr h="571500">
                <a:tc>
                  <a:txBody>
                    <a:bodyPr/>
                    <a:lstStyle/>
                    <a:p>
                      <a:r>
                        <a:rPr sz="1800" b="0">
                          <a:solidFill>
                            <a:srgbClr val="153049"/>
                          </a:solidFill>
                          <a:latin typeface="DejaVu Sans"/>
                          <a:ea typeface="DejaVu Sans"/>
                          <a:cs typeface="DejaVu Sans"/>
                        </a:rPr>
                        <a:t>RESETS_BASE</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0x4000C000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0x40020000</a:t>
                      </a:r>
                    </a:p>
                  </a:txBody>
                  <a:tcPr marL="91440" marR="91440" marT="45720" marB="45720">
                    <a:lnR w="9525">
                      <a:solidFill>
                        <a:srgbClr val="C5D1DA"/>
                      </a:solidFill>
                      <a:prstDash val="solid"/>
                    </a:lnR>
                    <a:lnB w="9525">
                      <a:solidFill>
                        <a:srgbClr val="C5D1DA"/>
                      </a:solidFill>
                      <a:prstDash val="solid"/>
                    </a:lnB>
                    <a:solidFill>
                      <a:srgbClr val="FFFFFF"/>
                    </a:solidFill>
                  </a:tcPr>
                </a:tc>
              </a:tr>
              <a:tr h="571500">
                <a:tc>
                  <a:txBody>
                    <a:bodyPr/>
                    <a:lstStyle/>
                    <a:p>
                      <a:r>
                        <a:rPr sz="1800" b="0">
                          <a:solidFill>
                            <a:srgbClr val="153049"/>
                          </a:solidFill>
                          <a:latin typeface="DejaVu Sans"/>
                          <a:ea typeface="DejaVu Sans"/>
                          <a:cs typeface="DejaVu Sans"/>
                        </a:rPr>
                        <a:t>RESET UART0</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bit22</a:t>
                      </a:r>
                    </a:p>
                  </a:txBody>
                  <a:tcPr marL="91440" marR="91440" marT="45720" marB="45720">
                    <a:lnR w="9525">
                      <a:solidFill>
                        <a:srgbClr val="C5D1DA"/>
                      </a:solidFill>
                      <a:prstDash val="solid"/>
                    </a:lnR>
                    <a:lnB w="9525">
                      <a:solidFill>
                        <a:srgbClr val="C5D1DA"/>
                      </a:solidFill>
                      <a:prstDash val="solid"/>
                    </a:lnB>
                    <a:solidFill>
                      <a:srgbClr val="E7EEF3"/>
                    </a:solidFill>
                  </a:tcPr>
                </a:tc>
                <a:tc>
                  <a:txBody>
                    <a:bodyPr/>
                    <a:lstStyle/>
                    <a:p>
                      <a:r>
                        <a:rPr sz="1800" b="0">
                          <a:solidFill>
                            <a:srgbClr val="153049"/>
                          </a:solidFill>
                          <a:latin typeface="DejaVu Sans"/>
                          <a:ea typeface="DejaVu Sans"/>
                          <a:cs typeface="DejaVu Sans"/>
                        </a:rPr>
                        <a:t>bit26</a:t>
                      </a:r>
                    </a:p>
                  </a:txBody>
                  <a:tcPr marL="91440" marR="91440" marT="45720" marB="45720">
                    <a:lnR w="9525">
                      <a:solidFill>
                        <a:srgbClr val="C5D1DA"/>
                      </a:solidFill>
                      <a:prstDash val="solid"/>
                    </a:lnR>
                    <a:lnB w="9525">
                      <a:solidFill>
                        <a:srgbClr val="C5D1DA"/>
                      </a:solidFill>
                      <a:prstDash val="solid"/>
                    </a:lnB>
                    <a:solidFill>
                      <a:srgbClr val="E7EEF3"/>
                    </a:solidFill>
                  </a:tcPr>
                </a:tc>
              </a:tr>
              <a:tr h="571500">
                <a:tc>
                  <a:txBody>
                    <a:bodyPr/>
                    <a:lstStyle/>
                    <a:p>
                      <a:r>
                        <a:rPr sz="1800" b="0">
                          <a:solidFill>
                            <a:srgbClr val="153049"/>
                          </a:solidFill>
                          <a:latin typeface="DejaVu Sans"/>
                          <a:ea typeface="DejaVu Sans"/>
                          <a:cs typeface="DejaVu Sans"/>
                        </a:rPr>
                        <a:t>CPU del build</a:t>
                      </a:r>
                    </a:p>
                  </a:txBody>
                  <a:tcPr marL="91440" marR="91440" marT="45720" marB="45720">
                    <a:lnL w="9525">
                      <a:solidFill>
                        <a:srgbClr val="C5D1DA"/>
                      </a:solidFill>
                      <a:prstDash val="solid"/>
                    </a:lnL>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Cortex-M0+</a:t>
                      </a:r>
                    </a:p>
                  </a:txBody>
                  <a:tcPr marL="91440" marR="91440" marT="45720" marB="45720">
                    <a:lnR w="9525">
                      <a:solidFill>
                        <a:srgbClr val="C5D1DA"/>
                      </a:solidFill>
                      <a:prstDash val="solid"/>
                    </a:lnR>
                    <a:lnB w="9525">
                      <a:solidFill>
                        <a:srgbClr val="C5D1DA"/>
                      </a:solidFill>
                      <a:prstDash val="solid"/>
                    </a:lnB>
                    <a:solidFill>
                      <a:srgbClr val="FFFFFF"/>
                    </a:solidFill>
                  </a:tcPr>
                </a:tc>
                <a:tc>
                  <a:txBody>
                    <a:bodyPr/>
                    <a:lstStyle/>
                    <a:p>
                      <a:r>
                        <a:rPr sz="1800" b="0">
                          <a:solidFill>
                            <a:srgbClr val="153049"/>
                          </a:solidFill>
                          <a:latin typeface="DejaVu Sans"/>
                          <a:ea typeface="DejaVu Sans"/>
                          <a:cs typeface="DejaVu Sans"/>
                        </a:rPr>
                        <a:t>Cortex-M33</a:t>
                      </a:r>
                    </a:p>
                  </a:txBody>
                  <a:tcPr marL="91440" marR="91440" marT="45720" marB="45720">
                    <a:lnR w="9525">
                      <a:solidFill>
                        <a:srgbClr val="C5D1DA"/>
                      </a:solidFill>
                      <a:prstDash val="solid"/>
                    </a:lnR>
                    <a:lnB w="9525">
                      <a:solidFill>
                        <a:srgbClr val="C5D1DA"/>
                      </a:solidFill>
                      <a:prstDash val="solid"/>
                    </a:lnB>
                    <a:solidFill>
                      <a:srgbClr val="FFFFFF"/>
                    </a:solidFill>
                  </a:tcPr>
                </a:tc>
              </a:tr>
            </a:tbl>
          </a:graphicData>
        </a:graphic>
      </p:graphicFrame>
      <p:sp>
        <p:nvSpPr>
          <p:cNvPr id="3" name="text-1">
            <a:extLst xmlns:a="http://schemas.openxmlformats.org/drawingml/2006/main">
              <a:ext uri="{FF2B5EF4-FFF2-40B4-BE49-F238E27FC236}">
                <a16:creationId xmlns:a16="http://schemas.microsoft.com/office/drawing/2014/main" id="{3E340432-1EBD-4B3B-B441-2AABED3C7B48}"/>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19 / 29</a:t>
            </a:r>
          </a:p>
        </p:txBody>
      </p:sp>
    </p:spTree>
    <p:extLst>
      <p:ext uri="{BB962C8B-B14F-4D97-AF65-F5344CB8AC3E}">
        <p14:creationId xmlns:p14="http://schemas.microsoft.com/office/powerpoint/2010/main" val="1983956974"/>
      </p:ext>
    </p:extLst>
  </p:cSld>
</p:sld>
</file>

<file path=ppt/slides/slide2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C62B23B-F162-4818-A302-5969AD8ABCA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Lo que se conserva</a:t>
            </a:r>
          </a:p>
        </p:txBody>
      </p:sp>
      <p:sp>
        <p:nvSpPr>
          <p:cNvPr id="2" name="text-1">
            <a:extLst xmlns:a="http://schemas.openxmlformats.org/drawingml/2006/main">
              <a:ext uri="{FF2B5EF4-FFF2-40B4-BE49-F238E27FC236}">
                <a16:creationId xmlns:a16="http://schemas.microsoft.com/office/drawing/2014/main" id="{637638E5-B8EE-4FEB-A661-3BDC9155D5EB}"/>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202FC0DB-CD0C-408D-9174-44C1B7C4D57E}"/>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Los offsets DR, FR, IBRD, FBRD, LCR_H y CR usados.</a:t>
            </a:r>
          </a:p>
        </p:txBody>
      </p:sp>
      <p:sp>
        <p:nvSpPr>
          <p:cNvPr id="4" name="text-3">
            <a:extLst xmlns:a="http://schemas.openxmlformats.org/drawingml/2006/main">
              <a:ext uri="{FF2B5EF4-FFF2-40B4-BE49-F238E27FC236}">
                <a16:creationId xmlns:a16="http://schemas.microsoft.com/office/drawing/2014/main" id="{CDD4408F-44E6-4224-8E1B-A80A6DF73694}"/>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50310DB1-0B54-4814-9270-613F8C9DE310}"/>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UART0 en GP0/GP1 y formato de comunicación 8N1.</a:t>
            </a:r>
          </a:p>
        </p:txBody>
      </p:sp>
      <p:sp>
        <p:nvSpPr>
          <p:cNvPr id="6" name="text-5">
            <a:extLst xmlns:a="http://schemas.openxmlformats.org/drawingml/2006/main">
              <a:ext uri="{FF2B5EF4-FFF2-40B4-BE49-F238E27FC236}">
                <a16:creationId xmlns:a16="http://schemas.microsoft.com/office/drawing/2014/main" id="{8AA0C8A7-A557-4CF4-B479-83DCCEEBFCC7}"/>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1779A886-1B6A-4075-A862-9D9721490719}"/>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Una fuente común con compilaciones independientes.</a:t>
            </a:r>
          </a:p>
        </p:txBody>
      </p:sp>
      <p:sp>
        <p:nvSpPr>
          <p:cNvPr id="8" name="text-7">
            <a:extLst xmlns:a="http://schemas.openxmlformats.org/drawingml/2006/main">
              <a:ext uri="{FF2B5EF4-FFF2-40B4-BE49-F238E27FC236}">
                <a16:creationId xmlns:a16="http://schemas.microsoft.com/office/drawing/2014/main" id="{4FD80C8F-E552-4B37-A3D2-7A7045798DF5}"/>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20 / 29</a:t>
            </a:r>
          </a:p>
        </p:txBody>
      </p:sp>
    </p:spTree>
    <p:extLst>
      <p:ext uri="{BB962C8B-B14F-4D97-AF65-F5344CB8AC3E}">
        <p14:creationId xmlns:p14="http://schemas.microsoft.com/office/powerpoint/2010/main" val="818353124"/>
      </p:ext>
    </p:extLst>
  </p:cSld>
</p:sld>
</file>

<file path=ppt/slides/slide2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1E44D539-0C39-40CF-A856-02D6460A3B9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Un divisor calculado desde el reloj</a:t>
            </a:r>
          </a:p>
        </p:txBody>
      </p:sp>
      <p:sp>
        <p:nvSpPr>
          <p:cNvPr id="2" name="text-1">
            <a:extLst xmlns:a="http://schemas.openxmlformats.org/drawingml/2006/main">
              <a:ext uri="{FF2B5EF4-FFF2-40B4-BE49-F238E27FC236}">
                <a16:creationId xmlns:a16="http://schemas.microsoft.com/office/drawing/2014/main" id="{E6DF1BD0-5B12-4B90-B751-2C47FA2E7C74}"/>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32E60BB5-8248-4E70-8861-3C7C2756FCF0}"/>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D = clk_peri / (16 × baud).</a:t>
            </a:r>
          </a:p>
        </p:txBody>
      </p:sp>
      <p:sp>
        <p:nvSpPr>
          <p:cNvPr id="4" name="text-3">
            <a:extLst xmlns:a="http://schemas.openxmlformats.org/drawingml/2006/main">
              <a:ext uri="{FF2B5EF4-FFF2-40B4-BE49-F238E27FC236}">
                <a16:creationId xmlns:a16="http://schemas.microsoft.com/office/drawing/2014/main" id="{3C90EF4F-40CB-4C00-A95A-B26EEDBE7D07}"/>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070C5C32-6633-486F-83AF-6CFBD33071C8}"/>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IBRD contiene la parte entera; FBRD fracciones de 1/64.</a:t>
            </a:r>
          </a:p>
        </p:txBody>
      </p:sp>
      <p:sp>
        <p:nvSpPr>
          <p:cNvPr id="6" name="text-5">
            <a:extLst xmlns:a="http://schemas.openxmlformats.org/drawingml/2006/main">
              <a:ext uri="{FF2B5EF4-FFF2-40B4-BE49-F238E27FC236}">
                <a16:creationId xmlns:a16="http://schemas.microsoft.com/office/drawing/2014/main" id="{0498198C-D14A-44F5-B87E-EFACB7F43F88}"/>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C2051355-B5D4-490E-85AE-27F6359CAE84}"/>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Ejemplo a 48 MHz y 9600 baud: IBRD=312, FBRD=32.</a:t>
            </a:r>
          </a:p>
        </p:txBody>
      </p:sp>
      <p:sp>
        <p:nvSpPr>
          <p:cNvPr id="8" name="text-7">
            <a:extLst xmlns:a="http://schemas.openxmlformats.org/drawingml/2006/main">
              <a:ext uri="{FF2B5EF4-FFF2-40B4-BE49-F238E27FC236}">
                <a16:creationId xmlns:a16="http://schemas.microsoft.com/office/drawing/2014/main" id="{EA3EA2EE-4F55-4D97-BC6F-5981174C1A35}"/>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21 / 29</a:t>
            </a:r>
          </a:p>
        </p:txBody>
      </p:sp>
    </p:spTree>
    <p:extLst>
      <p:ext uri="{BB962C8B-B14F-4D97-AF65-F5344CB8AC3E}">
        <p14:creationId xmlns:p14="http://schemas.microsoft.com/office/powerpoint/2010/main" val="211849620"/>
      </p:ext>
    </p:extLst>
  </p:cSld>
</p:sld>
</file>

<file path=ppt/slides/slide2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2A0A6EC-E87A-47D1-87DD-C8E79BE1F9A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El monitor del curso sigue reconocible</a:t>
            </a:r>
          </a:p>
        </p:txBody>
      </p:sp>
      <p:sp>
        <p:nvSpPr>
          <p:cNvPr id="2" name="text-1">
            <a:extLst xmlns:a="http://schemas.openxmlformats.org/drawingml/2006/main">
              <a:ext uri="{FF2B5EF4-FFF2-40B4-BE49-F238E27FC236}">
                <a16:creationId xmlns:a16="http://schemas.microsoft.com/office/drawing/2014/main" id="{FD7455BB-E79D-43A7-9988-853F69221622}"/>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6C7C6845-5560-4FEE-B134-0B67759CE0B6}"/>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Tabla command_t y handlers conservados.</a:t>
            </a:r>
          </a:p>
        </p:txBody>
      </p:sp>
      <p:sp>
        <p:nvSpPr>
          <p:cNvPr id="4" name="text-3">
            <a:extLst xmlns:a="http://schemas.openxmlformats.org/drawingml/2006/main">
              <a:ext uri="{FF2B5EF4-FFF2-40B4-BE49-F238E27FC236}">
                <a16:creationId xmlns:a16="http://schemas.microsoft.com/office/drawing/2014/main" id="{116855F4-28E9-4C8A-9546-D172EFD622CC}"/>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F315C2F5-17E6-4C77-B1DB-C342003C5573}"/>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split_line crea argc y argv; execute_command elige la función.</a:t>
            </a:r>
          </a:p>
        </p:txBody>
      </p:sp>
      <p:sp>
        <p:nvSpPr>
          <p:cNvPr id="6" name="text-5">
            <a:extLst xmlns:a="http://schemas.openxmlformats.org/drawingml/2006/main">
              <a:ext uri="{FF2B5EF4-FFF2-40B4-BE49-F238E27FC236}">
                <a16:creationId xmlns:a16="http://schemas.microsoft.com/office/drawing/2014/main" id="{345A96E6-D954-4548-A6E4-343BA04882EB}"/>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EC3188DF-CD06-461D-AEA4-7D055D36EF96}"/>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Nuevos comandos: uart y rs232.</a:t>
            </a:r>
          </a:p>
        </p:txBody>
      </p:sp>
      <p:sp>
        <p:nvSpPr>
          <p:cNvPr id="8" name="text-7">
            <a:extLst xmlns:a="http://schemas.openxmlformats.org/drawingml/2006/main">
              <a:ext uri="{FF2B5EF4-FFF2-40B4-BE49-F238E27FC236}">
                <a16:creationId xmlns:a16="http://schemas.microsoft.com/office/drawing/2014/main" id="{C4E8EBEA-E5AF-4192-AD0A-3B8792F5C75B}"/>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22 / 29</a:t>
            </a:r>
          </a:p>
        </p:txBody>
      </p:sp>
    </p:spTree>
    <p:extLst>
      <p:ext uri="{BB962C8B-B14F-4D97-AF65-F5344CB8AC3E}">
        <p14:creationId xmlns:p14="http://schemas.microsoft.com/office/powerpoint/2010/main" val="1340139494"/>
      </p:ext>
    </p:extLst>
  </p:cSld>
</p:sld>
</file>

<file path=ppt/slides/slide2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8DBFAC9-DABA-4ECD-98A5-089391E79D1D}"/>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Comandos y validación</a:t>
            </a:r>
          </a:p>
        </p:txBody>
      </p:sp>
      <p:sp>
        <p:nvSpPr>
          <p:cNvPr id="2" name="text-1">
            <a:extLst xmlns:a="http://schemas.openxmlformats.org/drawingml/2006/main">
              <a:ext uri="{FF2B5EF4-FFF2-40B4-BE49-F238E27FC236}">
                <a16:creationId xmlns:a16="http://schemas.microsoft.com/office/drawing/2014/main" id="{A1BE906A-1092-4AC0-A29E-0109C40C90D7}"/>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E971DCB3-F614-48AD-94E9-5CF1CF375B60}"/>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 info · uart regs · uart sdk</a:t>
            </a:r>
          </a:p>
        </p:txBody>
      </p:sp>
      <p:sp>
        <p:nvSpPr>
          <p:cNvPr id="4" name="text-3">
            <a:extLst xmlns:a="http://schemas.openxmlformats.org/drawingml/2006/main">
              <a:ext uri="{FF2B5EF4-FFF2-40B4-BE49-F238E27FC236}">
                <a16:creationId xmlns:a16="http://schemas.microsoft.com/office/drawing/2014/main" id="{CE4D3D33-BFDB-48B5-8726-EA8DCC945122}"/>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A80FD83D-EB96-42FA-989C-9D500D082015}"/>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rs232 hola desde la Pico</a:t>
            </a:r>
          </a:p>
        </p:txBody>
      </p:sp>
      <p:sp>
        <p:nvSpPr>
          <p:cNvPr id="6" name="text-5">
            <a:extLst xmlns:a="http://schemas.openxmlformats.org/drawingml/2006/main">
              <a:ext uri="{FF2B5EF4-FFF2-40B4-BE49-F238E27FC236}">
                <a16:creationId xmlns:a16="http://schemas.microsoft.com/office/drawing/2014/main" id="{2332B286-0C4A-4D37-B2D5-A3705F673EF3}"/>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6BC87B13-2C5D-4A06-B320-44DE0DAD0CEB}"/>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Línea máxima: 63 caracteres ASCII; máximo: 16 argumentos.</a:t>
            </a:r>
          </a:p>
        </p:txBody>
      </p:sp>
      <p:sp>
        <p:nvSpPr>
          <p:cNvPr id="8" name="text-7">
            <a:extLst xmlns:a="http://schemas.openxmlformats.org/drawingml/2006/main">
              <a:ext uri="{FF2B5EF4-FFF2-40B4-BE49-F238E27FC236}">
                <a16:creationId xmlns:a16="http://schemas.microsoft.com/office/drawing/2014/main" id="{FC7E6A86-6CCA-4F3E-A19C-5455A23C534E}"/>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23 / 29</a:t>
            </a:r>
          </a:p>
        </p:txBody>
      </p:sp>
    </p:spTree>
    <p:extLst>
      <p:ext uri="{BB962C8B-B14F-4D97-AF65-F5344CB8AC3E}">
        <p14:creationId xmlns:p14="http://schemas.microsoft.com/office/powerpoint/2010/main" val="1959945838"/>
      </p:ext>
    </p:extLst>
  </p:cSld>
</p:sld>
</file>

<file path=ppt/slides/slide2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2975F8F0-8C31-46E1-9D0D-791473CDF81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El recorrido completo de un comando</a:t>
            </a:r>
          </a:p>
        </p:txBody>
      </p:sp>
      <p:sp>
        <p:nvSpPr>
          <p:cNvPr id="2" name="text-1">
            <a:extLst xmlns:a="http://schemas.openxmlformats.org/drawingml/2006/main">
              <a:ext uri="{FF2B5EF4-FFF2-40B4-BE49-F238E27FC236}">
                <a16:creationId xmlns:a16="http://schemas.microsoft.com/office/drawing/2014/main" id="{D4041B24-A3B6-45E3-B59D-40DDA53811F9}"/>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B7ABAD3C-9608-49A9-9D6F-380DF3356D47}"/>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La terminal envía la orden por el adaptador RS-232.</a:t>
            </a:r>
          </a:p>
        </p:txBody>
      </p:sp>
      <p:sp>
        <p:nvSpPr>
          <p:cNvPr id="4" name="text-3">
            <a:extLst xmlns:a="http://schemas.openxmlformats.org/drawingml/2006/main">
              <a:ext uri="{FF2B5EF4-FFF2-40B4-BE49-F238E27FC236}">
                <a16:creationId xmlns:a16="http://schemas.microsoft.com/office/drawing/2014/main" id="{FCF9B8E7-510F-44AF-B806-058789AF9A1A}"/>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BC3BED38-93CA-429E-A7F0-214E7AD8D371}"/>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 recibe bytes y el REPL llama al handler de C.</a:t>
            </a:r>
          </a:p>
        </p:txBody>
      </p:sp>
      <p:sp>
        <p:nvSpPr>
          <p:cNvPr id="6" name="text-5">
            <a:extLst xmlns:a="http://schemas.openxmlformats.org/drawingml/2006/main">
              <a:ext uri="{FF2B5EF4-FFF2-40B4-BE49-F238E27FC236}">
                <a16:creationId xmlns:a16="http://schemas.microsoft.com/office/drawing/2014/main" id="{B90328D0-80E0-4CE1-931A-3EB75424E04C}"/>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60DFA3FA-4293-4830-A118-0C9483E0C58B}"/>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La respuesta [RS232] confirma que el programa procesó el texto.</a:t>
            </a:r>
          </a:p>
        </p:txBody>
      </p:sp>
      <p:sp>
        <p:nvSpPr>
          <p:cNvPr id="8" name="text-7">
            <a:extLst xmlns:a="http://schemas.openxmlformats.org/drawingml/2006/main">
              <a:ext uri="{FF2B5EF4-FFF2-40B4-BE49-F238E27FC236}">
                <a16:creationId xmlns:a16="http://schemas.microsoft.com/office/drawing/2014/main" id="{685FC7A5-6772-4CE0-AE51-4A0AAA3F90DF}"/>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24 / 29</a:t>
            </a:r>
          </a:p>
        </p:txBody>
      </p:sp>
    </p:spTree>
    <p:extLst>
      <p:ext uri="{BB962C8B-B14F-4D97-AF65-F5344CB8AC3E}">
        <p14:creationId xmlns:p14="http://schemas.microsoft.com/office/powerpoint/2010/main" val="1436056028"/>
      </p:ext>
    </p:extLst>
  </p:cSld>
</p:sld>
</file>

<file path=ppt/slides/slide2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B81B2FC-4753-446C-92B0-3DEA3EB81EB2}"/>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Conexiones de la demostración</a:t>
            </a:r>
          </a:p>
        </p:txBody>
      </p:sp>
      <p:pic>
        <p:nvPicPr>
          <p:cNvPr id="2" name="">
            <a:extLst xmlns:a="http://schemas.openxmlformats.org/drawingml/2006/main">
              <a:ext uri="{FF2B5EF4-FFF2-40B4-BE49-F238E27FC236}">
                <a16:creationId xmlns:a16="http://schemas.microsoft.com/office/drawing/2014/main" id="{C59CE68E-4BFD-4A36-AC27-15FA835A85AE}"/>
              </a:ext>
            </a:extLst>
          </p:cNvPr>
          <p:cNvPicPr>
            <a:picLocks xmlns:a="http://schemas.openxmlformats.org/drawingml/2006/main" noChangeAspect="1"/>
          </p:cNvPicPr>
          <p:nvPr/>
        </p:nvPicPr>
        <p:blipFill>
          <a:blip xmlns:r="http://schemas.openxmlformats.org/officeDocument/2006/relationships" xmlns:a="http://schemas.openxmlformats.org/drawingml/2006/main" r:embed="Ra0329c45720c4a73"/>
          <a:stretch xmlns:a="http://schemas.openxmlformats.org/drawingml/2006/main"/>
        </p:blipFill>
        <p:spPr>
          <a:xfrm xmlns:a="http://schemas.openxmlformats.org/drawingml/2006/main">
            <a:off x="1172308" y="1504950"/>
            <a:ext cx="9847385" cy="3429000"/>
          </a:xfrm>
          <a:prstGeom xmlns:a="http://schemas.openxmlformats.org/drawingml/2006/main" prst="rect">
            <a:avLst/>
          </a:prstGeom>
        </p:spPr>
      </p:pic>
      <p:sp>
        <p:nvSpPr>
          <p:cNvPr id="3" name="text-1">
            <a:extLst xmlns:a="http://schemas.openxmlformats.org/drawingml/2006/main">
              <a:ext uri="{FF2B5EF4-FFF2-40B4-BE49-F238E27FC236}">
                <a16:creationId xmlns:a16="http://schemas.microsoft.com/office/drawing/2014/main" id="{588A444F-DECC-4E85-B781-4CF8D7C107FE}"/>
              </a:ext>
            </a:extLst>
          </p:cNvPr>
          <p:cNvSpPr>
            <a:spLocks xmlns:a="http://schemas.openxmlformats.org/drawingml/2006/main" noGrp="1"/>
          </p:cNvSpPr>
          <p:nvPr/>
        </p:nvSpPr>
        <p:spPr>
          <a:xfrm xmlns:a="http://schemas.openxmlformats.org/drawingml/2006/main">
            <a:off x="685800" y="5095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MAX3232 alimentado desde 3V3 OUT.</a:t>
            </a:r>
          </a:p>
        </p:txBody>
      </p:sp>
      <p:sp>
        <p:nvSpPr>
          <p:cNvPr id="4" name="text-2">
            <a:extLst xmlns:a="http://schemas.openxmlformats.org/drawingml/2006/main">
              <a:ext uri="{FF2B5EF4-FFF2-40B4-BE49-F238E27FC236}">
                <a16:creationId xmlns:a16="http://schemas.microsoft.com/office/drawing/2014/main" id="{7A0F59DA-F972-4E69-8F0E-F3326CE63E75}"/>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TX de Pico a T1IN; R1OUT a RX de Pico.</a:t>
            </a:r>
          </a:p>
        </p:txBody>
      </p:sp>
      <p:sp>
        <p:nvSpPr>
          <p:cNvPr id="5" name="text-3">
            <a:extLst xmlns:a="http://schemas.openxmlformats.org/drawingml/2006/main">
              <a:ext uri="{FF2B5EF4-FFF2-40B4-BE49-F238E27FC236}">
                <a16:creationId xmlns:a16="http://schemas.microsoft.com/office/drawing/2014/main" id="{A3BF47F2-F5B6-4621-B05E-E38D5C22DFE3}"/>
              </a:ext>
            </a:extLst>
          </p:cNvPr>
          <p:cNvSpPr>
            <a:spLocks xmlns:a="http://schemas.openxmlformats.org/drawingml/2006/main" noGrp="1"/>
          </p:cNvSpPr>
          <p:nvPr/>
        </p:nvSpPr>
        <p:spPr>
          <a:xfrm xmlns:a="http://schemas.openxmlformats.org/drawingml/2006/main">
            <a:off x="685800" y="585787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3049"/>
                </a:solidFill>
                <a:latin typeface="DejaVu Sans"/>
                <a:ea typeface="DejaVu Sans"/>
                <a:cs typeface="DejaVu Sans"/>
              </a:defRPr>
            </a:defPPr>
            <a:lvl1pPr>
              <a:defRPr sz="1650" b="0">
                <a:solidFill>
                  <a:srgbClr val="153049"/>
                </a:solidFill>
                <a:latin typeface="DejaVu Sans"/>
                <a:ea typeface="DejaVu Sans"/>
                <a:cs typeface="DejaVu Sans"/>
              </a:defRPr>
            </a:lvl1pPr>
            <a:lvl2pPr>
              <a:defRPr sz="1650" b="0">
                <a:solidFill>
                  <a:srgbClr val="153049"/>
                </a:solidFill>
                <a:latin typeface="DejaVu Sans"/>
                <a:ea typeface="DejaVu Sans"/>
                <a:cs typeface="DejaVu Sans"/>
              </a:defRPr>
            </a:lvl2pPr>
            <a:lvl3pPr>
              <a:defRPr sz="1650" b="0">
                <a:solidFill>
                  <a:srgbClr val="153049"/>
                </a:solidFill>
                <a:latin typeface="DejaVu Sans"/>
                <a:ea typeface="DejaVu Sans"/>
                <a:cs typeface="DejaVu Sans"/>
              </a:defRPr>
            </a:lvl3pPr>
            <a:lvl4pPr>
              <a:defRPr sz="1650" b="0">
                <a:solidFill>
                  <a:srgbClr val="153049"/>
                </a:solidFill>
                <a:latin typeface="DejaVu Sans"/>
                <a:ea typeface="DejaVu Sans"/>
                <a:cs typeface="DejaVu Sans"/>
              </a:defRPr>
            </a:lvl4pPr>
            <a:lvl5pPr>
              <a:defRPr sz="1650" b="0">
                <a:solidFill>
                  <a:srgbClr val="153049"/>
                </a:solidFill>
                <a:latin typeface="DejaVu Sans"/>
                <a:ea typeface="DejaVu Sans"/>
                <a:cs typeface="DejaVu Sans"/>
              </a:defRPr>
            </a:lvl5pPr>
            <a:lvl6pPr>
              <a:defRPr sz="1650" b="0">
                <a:solidFill>
                  <a:srgbClr val="153049"/>
                </a:solidFill>
                <a:latin typeface="DejaVu Sans"/>
                <a:ea typeface="DejaVu Sans"/>
                <a:cs typeface="DejaVu Sans"/>
              </a:defRPr>
            </a:lvl6pPr>
            <a:lvl7pPr>
              <a:defRPr sz="1650" b="0">
                <a:solidFill>
                  <a:srgbClr val="153049"/>
                </a:solidFill>
                <a:latin typeface="DejaVu Sans"/>
                <a:ea typeface="DejaVu Sans"/>
                <a:cs typeface="DejaVu Sans"/>
              </a:defRPr>
            </a:lvl7pPr>
            <a:lvl8pPr>
              <a:defRPr sz="1650" b="0">
                <a:solidFill>
                  <a:srgbClr val="153049"/>
                </a:solidFill>
                <a:latin typeface="DejaVu Sans"/>
                <a:ea typeface="DejaVu Sans"/>
                <a:cs typeface="DejaVu Sans"/>
              </a:defRPr>
            </a:lvl8pPr>
            <a:lvl9pPr>
              <a:defRPr sz="1650" b="0">
                <a:solidFill>
                  <a:srgbClr val="153049"/>
                </a:solidFill>
                <a:latin typeface="DejaVu Sans"/>
                <a:ea typeface="DejaVu Sans"/>
                <a:cs typeface="DejaVu Sans"/>
              </a:defRPr>
            </a:lvl9pPr>
          </a:lstStyle>
          <a:p xmlns:a="http://schemas.openxmlformats.org/drawingml/2006/main">
            <a:pPr>
              <a:defRPr sz="1650" b="0">
                <a:solidFill>
                  <a:srgbClr val="153049"/>
                </a:solidFill>
                <a:latin typeface="DejaVu Sans"/>
                <a:ea typeface="DejaVu Sans"/>
                <a:cs typeface="DejaVu Sans"/>
              </a:defRPr>
            </a:pPr>
            <a:r>
              <a:rPr sz="1650" b="0">
                <a:solidFill>
                  <a:srgbClr val="153049"/>
                </a:solidFill>
                <a:latin typeface="DejaVu Sans"/>
                <a:ea typeface="DejaVu Sans"/>
                <a:cs typeface="DejaVu Sans"/>
              </a:rPr>
              <a:t>Pinout DE-9 mostrado para un adaptador DTE estándar.</a:t>
            </a:r>
          </a:p>
        </p:txBody>
      </p:sp>
      <p:sp>
        <p:nvSpPr>
          <p:cNvPr id="6" name="text-4">
            <a:extLst xmlns:a="http://schemas.openxmlformats.org/drawingml/2006/main">
              <a:ext uri="{FF2B5EF4-FFF2-40B4-BE49-F238E27FC236}">
                <a16:creationId xmlns:a16="http://schemas.microsoft.com/office/drawing/2014/main" id="{398DCDEE-F1ED-41CC-B8AB-6793BDBE8552}"/>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25 / 29</a:t>
            </a:r>
          </a:p>
        </p:txBody>
      </p:sp>
    </p:spTree>
    <p:extLst>
      <p:ext uri="{BB962C8B-B14F-4D97-AF65-F5344CB8AC3E}">
        <p14:creationId xmlns:p14="http://schemas.microsoft.com/office/powerpoint/2010/main" val="1086887106"/>
      </p:ext>
    </p:extLst>
  </p:cSld>
</p:sld>
</file>

<file path=ppt/slides/slide2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BA5488C-188C-4570-9524-B2A7405A253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Prueba en Pico 2 W</a:t>
            </a:r>
          </a:p>
        </p:txBody>
      </p:sp>
      <p:sp>
        <p:nvSpPr>
          <p:cNvPr id="2" name="text-1">
            <a:extLst xmlns:a="http://schemas.openxmlformats.org/drawingml/2006/main">
              <a:ext uri="{FF2B5EF4-FFF2-40B4-BE49-F238E27FC236}">
                <a16:creationId xmlns:a16="http://schemas.microsoft.com/office/drawing/2014/main" id="{C298911A-C7F2-4878-89FB-A72EBC10DF2E}"/>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3AA6C19B-71D6-447F-97BF-17AD2B49A354}"/>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 info → rs232 prueba regs</a:t>
            </a:r>
          </a:p>
        </p:txBody>
      </p:sp>
      <p:sp>
        <p:nvSpPr>
          <p:cNvPr id="4" name="text-3">
            <a:extLst xmlns:a="http://schemas.openxmlformats.org/drawingml/2006/main">
              <a:ext uri="{FF2B5EF4-FFF2-40B4-BE49-F238E27FC236}">
                <a16:creationId xmlns:a16="http://schemas.microsoft.com/office/drawing/2014/main" id="{C2FD4783-B43B-454E-B459-1CDD6789280C}"/>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357766BC-9737-4F72-9049-DC3F45B2842A}"/>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 sdk → rs232 prueba sdk</a:t>
            </a:r>
          </a:p>
        </p:txBody>
      </p:sp>
      <p:sp>
        <p:nvSpPr>
          <p:cNvPr id="6" name="text-5">
            <a:extLst xmlns:a="http://schemas.openxmlformats.org/drawingml/2006/main">
              <a:ext uri="{FF2B5EF4-FFF2-40B4-BE49-F238E27FC236}">
                <a16:creationId xmlns:a16="http://schemas.microsoft.com/office/drawing/2014/main" id="{D8A59C5F-1923-4E7D-9B59-463945B0DFCC}"/>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0BD98091-76B3-45A4-9225-536BA0CB5436}"/>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on → off → uart regs</a:t>
            </a:r>
          </a:p>
        </p:txBody>
      </p:sp>
      <p:sp>
        <p:nvSpPr>
          <p:cNvPr id="8" name="text-7">
            <a:extLst xmlns:a="http://schemas.openxmlformats.org/drawingml/2006/main">
              <a:ext uri="{FF2B5EF4-FFF2-40B4-BE49-F238E27FC236}">
                <a16:creationId xmlns:a16="http://schemas.microsoft.com/office/drawing/2014/main" id="{0FA5CAE4-5FF7-4514-AD27-C0156EAB1228}"/>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26 / 29</a:t>
            </a:r>
          </a:p>
        </p:txBody>
      </p:sp>
    </p:spTree>
    <p:extLst>
      <p:ext uri="{BB962C8B-B14F-4D97-AF65-F5344CB8AC3E}">
        <p14:creationId xmlns:p14="http://schemas.microsoft.com/office/powerpoint/2010/main" val="1078002345"/>
      </p:ext>
    </p:extLst>
  </p:cSld>
</p:sld>
</file>

<file path=ppt/slides/slide2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D8B6915-4D19-480A-879D-9076746BD6E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Prueba en Pico RP2040</a:t>
            </a:r>
          </a:p>
        </p:txBody>
      </p:sp>
      <p:sp>
        <p:nvSpPr>
          <p:cNvPr id="2" name="text-1">
            <a:extLst xmlns:a="http://schemas.openxmlformats.org/drawingml/2006/main">
              <a:ext uri="{FF2B5EF4-FFF2-40B4-BE49-F238E27FC236}">
                <a16:creationId xmlns:a16="http://schemas.microsoft.com/office/drawing/2014/main" id="{A4F05B38-DC32-4F87-83B8-ADAB92CAE3BD}"/>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B67ECAA7-2F0A-4CA6-993B-A46A60E19FA5}"/>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Repetir consulta y envío en regs y sdk.</a:t>
            </a:r>
          </a:p>
        </p:txBody>
      </p:sp>
      <p:sp>
        <p:nvSpPr>
          <p:cNvPr id="4" name="text-3">
            <a:extLst xmlns:a="http://schemas.openxmlformats.org/drawingml/2006/main">
              <a:ext uri="{FF2B5EF4-FFF2-40B4-BE49-F238E27FC236}">
                <a16:creationId xmlns:a16="http://schemas.microsoft.com/office/drawing/2014/main" id="{65431B5C-41B1-4DF0-B168-116744ECEA55}"/>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AF1D3FE6-514B-4D54-BF70-2D6E887374BD}"/>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Comprobar base 0x40034000.</a:t>
            </a:r>
          </a:p>
        </p:txBody>
      </p:sp>
      <p:sp>
        <p:nvSpPr>
          <p:cNvPr id="6" name="text-5">
            <a:extLst xmlns:a="http://schemas.openxmlformats.org/drawingml/2006/main">
              <a:ext uri="{FF2B5EF4-FFF2-40B4-BE49-F238E27FC236}">
                <a16:creationId xmlns:a16="http://schemas.microsoft.com/office/drawing/2014/main" id="{095DFCA0-3ACC-4E97-8C26-C12960B4E576}"/>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1C4AE8D1-E690-4329-8F04-226845F27A2A}"/>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Capturar terminal y montaje real de ambas plataformas.</a:t>
            </a:r>
          </a:p>
        </p:txBody>
      </p:sp>
      <p:sp>
        <p:nvSpPr>
          <p:cNvPr id="8" name="text-7">
            <a:extLst xmlns:a="http://schemas.openxmlformats.org/drawingml/2006/main">
              <a:ext uri="{FF2B5EF4-FFF2-40B4-BE49-F238E27FC236}">
                <a16:creationId xmlns:a16="http://schemas.microsoft.com/office/drawing/2014/main" id="{4389965C-D145-4438-B951-6FA1F175291C}"/>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27 / 29</a:t>
            </a:r>
          </a:p>
        </p:txBody>
      </p:sp>
    </p:spTree>
    <p:extLst>
      <p:ext uri="{BB962C8B-B14F-4D97-AF65-F5344CB8AC3E}">
        <p14:creationId xmlns:p14="http://schemas.microsoft.com/office/powerpoint/2010/main" val="1844635610"/>
      </p:ext>
    </p:extLst>
  </p:cSld>
</p:sld>
</file>

<file path=ppt/slides/slide2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269EAD5-F056-4D99-A8CE-9585BA61573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Conclusiones y límites</a:t>
            </a:r>
          </a:p>
        </p:txBody>
      </p:sp>
      <p:sp>
        <p:nvSpPr>
          <p:cNvPr id="2" name="text-1">
            <a:extLst xmlns:a="http://schemas.openxmlformats.org/drawingml/2006/main">
              <a:ext uri="{FF2B5EF4-FFF2-40B4-BE49-F238E27FC236}">
                <a16:creationId xmlns:a16="http://schemas.microsoft.com/office/drawing/2014/main" id="{29FBAA47-F47E-431A-928D-00EC432E41EE}"/>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1FCDB507-B0D3-4977-BA23-3DF27910B9E3}"/>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UART configura y transporta los bytes de la aplicación.</a:t>
            </a:r>
          </a:p>
        </p:txBody>
      </p:sp>
      <p:sp>
        <p:nvSpPr>
          <p:cNvPr id="4" name="text-3">
            <a:extLst xmlns:a="http://schemas.openxmlformats.org/drawingml/2006/main">
              <a:ext uri="{FF2B5EF4-FFF2-40B4-BE49-F238E27FC236}">
                <a16:creationId xmlns:a16="http://schemas.microsoft.com/office/drawing/2014/main" id="{1A4F4954-8EE2-4BFB-AF85-CFA704683DC3}"/>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61D9E926-6C33-4592-81A5-6BDF01931444}"/>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MAX3232 permite comunicar lógica de 3.3 V con RS-232.</a:t>
            </a:r>
          </a:p>
        </p:txBody>
      </p:sp>
      <p:sp>
        <p:nvSpPr>
          <p:cNvPr id="6" name="text-5">
            <a:extLst xmlns:a="http://schemas.openxmlformats.org/drawingml/2006/main">
              <a:ext uri="{FF2B5EF4-FFF2-40B4-BE49-F238E27FC236}">
                <a16:creationId xmlns:a16="http://schemas.microsoft.com/office/drawing/2014/main" id="{96057004-FBDF-4697-9EE9-2C9134E7B7AD}"/>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4A9CB16E-2E62-42AF-82B5-68FAC0145ABC}"/>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Registros y SDK ofrecen dos formas de controlar el mismo bloque.</a:t>
            </a:r>
          </a:p>
        </p:txBody>
      </p:sp>
      <p:sp>
        <p:nvSpPr>
          <p:cNvPr id="8" name="text-7">
            <a:extLst xmlns:a="http://schemas.openxmlformats.org/drawingml/2006/main">
              <a:ext uri="{FF2B5EF4-FFF2-40B4-BE49-F238E27FC236}">
                <a16:creationId xmlns:a16="http://schemas.microsoft.com/office/drawing/2014/main" id="{475DC0DA-20A9-41CB-85C1-4B9D30A7DAA0}"/>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28 / 29</a:t>
            </a:r>
          </a:p>
        </p:txBody>
      </p:sp>
    </p:spTree>
    <p:extLst>
      <p:ext uri="{BB962C8B-B14F-4D97-AF65-F5344CB8AC3E}">
        <p14:creationId xmlns:p14="http://schemas.microsoft.com/office/powerpoint/2010/main" val="916543285"/>
      </p:ext>
    </p:extLst>
  </p:cSld>
</p:sld>
</file>

<file path=ppt/slides/slide2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8D47EFA-65B0-4D7C-BC5A-24A0685F956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53049"/>
                </a:solidFill>
                <a:latin typeface="DejaVu Sans"/>
                <a:ea typeface="DejaVu Sans"/>
                <a:cs typeface="DejaVu Sans"/>
              </a:defRPr>
            </a:defPPr>
            <a:lvl1pPr>
              <a:defRPr sz="3150" b="1">
                <a:solidFill>
                  <a:srgbClr val="153049"/>
                </a:solidFill>
                <a:latin typeface="DejaVu Sans"/>
                <a:ea typeface="DejaVu Sans"/>
                <a:cs typeface="DejaVu Sans"/>
              </a:defRPr>
            </a:lvl1pPr>
            <a:lvl2pPr>
              <a:defRPr sz="3150" b="1">
                <a:solidFill>
                  <a:srgbClr val="153049"/>
                </a:solidFill>
                <a:latin typeface="DejaVu Sans"/>
                <a:ea typeface="DejaVu Sans"/>
                <a:cs typeface="DejaVu Sans"/>
              </a:defRPr>
            </a:lvl2pPr>
            <a:lvl3pPr>
              <a:defRPr sz="3150" b="1">
                <a:solidFill>
                  <a:srgbClr val="153049"/>
                </a:solidFill>
                <a:latin typeface="DejaVu Sans"/>
                <a:ea typeface="DejaVu Sans"/>
                <a:cs typeface="DejaVu Sans"/>
              </a:defRPr>
            </a:lvl3pPr>
            <a:lvl4pPr>
              <a:defRPr sz="3150" b="1">
                <a:solidFill>
                  <a:srgbClr val="153049"/>
                </a:solidFill>
                <a:latin typeface="DejaVu Sans"/>
                <a:ea typeface="DejaVu Sans"/>
                <a:cs typeface="DejaVu Sans"/>
              </a:defRPr>
            </a:lvl4pPr>
            <a:lvl5pPr>
              <a:defRPr sz="3150" b="1">
                <a:solidFill>
                  <a:srgbClr val="153049"/>
                </a:solidFill>
                <a:latin typeface="DejaVu Sans"/>
                <a:ea typeface="DejaVu Sans"/>
                <a:cs typeface="DejaVu Sans"/>
              </a:defRPr>
            </a:lvl5pPr>
            <a:lvl6pPr>
              <a:defRPr sz="3150" b="1">
                <a:solidFill>
                  <a:srgbClr val="153049"/>
                </a:solidFill>
                <a:latin typeface="DejaVu Sans"/>
                <a:ea typeface="DejaVu Sans"/>
                <a:cs typeface="DejaVu Sans"/>
              </a:defRPr>
            </a:lvl6pPr>
            <a:lvl7pPr>
              <a:defRPr sz="3150" b="1">
                <a:solidFill>
                  <a:srgbClr val="153049"/>
                </a:solidFill>
                <a:latin typeface="DejaVu Sans"/>
                <a:ea typeface="DejaVu Sans"/>
                <a:cs typeface="DejaVu Sans"/>
              </a:defRPr>
            </a:lvl7pPr>
            <a:lvl8pPr>
              <a:defRPr sz="3150" b="1">
                <a:solidFill>
                  <a:srgbClr val="153049"/>
                </a:solidFill>
                <a:latin typeface="DejaVu Sans"/>
                <a:ea typeface="DejaVu Sans"/>
                <a:cs typeface="DejaVu Sans"/>
              </a:defRPr>
            </a:lvl8pPr>
            <a:lvl9pPr>
              <a:defRPr sz="3150" b="1">
                <a:solidFill>
                  <a:srgbClr val="153049"/>
                </a:solidFill>
                <a:latin typeface="DejaVu Sans"/>
                <a:ea typeface="DejaVu Sans"/>
                <a:cs typeface="DejaVu Sans"/>
              </a:defRPr>
            </a:lvl9pPr>
          </a:lstStyle>
          <a:p xmlns:a="http://schemas.openxmlformats.org/drawingml/2006/main">
            <a:pPr>
              <a:defRPr sz="3150" b="1">
                <a:solidFill>
                  <a:srgbClr val="153049"/>
                </a:solidFill>
                <a:latin typeface="DejaVu Sans"/>
                <a:ea typeface="DejaVu Sans"/>
                <a:cs typeface="DejaVu Sans"/>
              </a:defRPr>
            </a:pPr>
            <a:r>
              <a:rPr sz="3150" b="1">
                <a:solidFill>
                  <a:srgbClr val="153049"/>
                </a:solidFill>
                <a:latin typeface="DejaVu Sans"/>
                <a:ea typeface="DejaVu Sans"/>
                <a:cs typeface="DejaVu Sans"/>
              </a:rPr>
              <a:t>Referencias técnicas</a:t>
            </a:r>
          </a:p>
        </p:txBody>
      </p:sp>
      <p:sp>
        <p:nvSpPr>
          <p:cNvPr id="2" name="text-1">
            <a:extLst xmlns:a="http://schemas.openxmlformats.org/drawingml/2006/main">
              <a:ext uri="{FF2B5EF4-FFF2-40B4-BE49-F238E27FC236}">
                <a16:creationId xmlns:a16="http://schemas.microsoft.com/office/drawing/2014/main" id="{40A63186-97E5-4C69-876F-D23F69C4617E}"/>
              </a:ext>
            </a:extLst>
          </p:cNvPr>
          <p:cNvSpPr>
            <a:spLocks xmlns:a="http://schemas.openxmlformats.org/drawingml/2006/main" noGrp="1"/>
          </p:cNvSpPr>
          <p:nvPr/>
        </p:nvSpPr>
        <p:spPr>
          <a:xfrm xmlns:a="http://schemas.openxmlformats.org/drawingml/2006/main">
            <a:off x="609600" y="18859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1ED671D7-5D12-477F-8782-5465A2289CFD}"/>
              </a:ext>
            </a:extLst>
          </p:cNvPr>
          <p:cNvSpPr>
            <a:spLocks xmlns:a="http://schemas.openxmlformats.org/drawingml/2006/main" noGrp="1"/>
          </p:cNvSpPr>
          <p:nvPr/>
        </p:nvSpPr>
        <p:spPr>
          <a:xfrm xmlns:a="http://schemas.openxmlformats.org/drawingml/2006/main">
            <a:off x="1428750" y="180975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Raspberry Pi: datasheets RP2040 y RP2350.</a:t>
            </a:r>
          </a:p>
        </p:txBody>
      </p:sp>
      <p:sp>
        <p:nvSpPr>
          <p:cNvPr id="4" name="text-3">
            <a:extLst xmlns:a="http://schemas.openxmlformats.org/drawingml/2006/main">
              <a:ext uri="{FF2B5EF4-FFF2-40B4-BE49-F238E27FC236}">
                <a16:creationId xmlns:a16="http://schemas.microsoft.com/office/drawing/2014/main" id="{B9980B06-1AFF-4A08-9AC0-0528F157CCCD}"/>
              </a:ext>
            </a:extLst>
          </p:cNvPr>
          <p:cNvSpPr>
            <a:spLocks xmlns:a="http://schemas.openxmlformats.org/drawingml/2006/main" noGrp="1"/>
          </p:cNvSpPr>
          <p:nvPr/>
        </p:nvSpPr>
        <p:spPr>
          <a:xfrm xmlns:a="http://schemas.openxmlformats.org/drawingml/2006/main">
            <a:off x="609600" y="288607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02</a:t>
            </a:r>
          </a:p>
        </p:txBody>
      </p:sp>
      <p:sp>
        <p:nvSpPr>
          <p:cNvPr id="5" name="text-4">
            <a:extLst xmlns:a="http://schemas.openxmlformats.org/drawingml/2006/main">
              <a:ext uri="{FF2B5EF4-FFF2-40B4-BE49-F238E27FC236}">
                <a16:creationId xmlns:a16="http://schemas.microsoft.com/office/drawing/2014/main" id="{BE7FF56C-FC55-40E2-9696-61E3881D3CEF}"/>
              </a:ext>
            </a:extLst>
          </p:cNvPr>
          <p:cNvSpPr>
            <a:spLocks xmlns:a="http://schemas.openxmlformats.org/drawingml/2006/main" noGrp="1"/>
          </p:cNvSpPr>
          <p:nvPr/>
        </p:nvSpPr>
        <p:spPr>
          <a:xfrm xmlns:a="http://schemas.openxmlformats.org/drawingml/2006/main">
            <a:off x="1428750" y="280987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Raspberry Pi: Pico SDK 2.2.0 y Hardware APIs.</a:t>
            </a:r>
          </a:p>
        </p:txBody>
      </p:sp>
      <p:sp>
        <p:nvSpPr>
          <p:cNvPr id="6" name="text-5">
            <a:extLst xmlns:a="http://schemas.openxmlformats.org/drawingml/2006/main">
              <a:ext uri="{FF2B5EF4-FFF2-40B4-BE49-F238E27FC236}">
                <a16:creationId xmlns:a16="http://schemas.microsoft.com/office/drawing/2014/main" id="{B9983FC3-17E5-4724-AAF1-5A9FD73A71D1}"/>
              </a:ext>
            </a:extLst>
          </p:cNvPr>
          <p:cNvSpPr>
            <a:spLocks xmlns:a="http://schemas.openxmlformats.org/drawingml/2006/main" noGrp="1"/>
          </p:cNvSpPr>
          <p:nvPr/>
        </p:nvSpPr>
        <p:spPr>
          <a:xfrm xmlns:a="http://schemas.openxmlformats.org/drawingml/2006/main">
            <a:off x="609600" y="388620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03</a:t>
            </a:r>
          </a:p>
        </p:txBody>
      </p:sp>
      <p:sp>
        <p:nvSpPr>
          <p:cNvPr id="7" name="text-6">
            <a:extLst xmlns:a="http://schemas.openxmlformats.org/drawingml/2006/main">
              <a:ext uri="{FF2B5EF4-FFF2-40B4-BE49-F238E27FC236}">
                <a16:creationId xmlns:a16="http://schemas.microsoft.com/office/drawing/2014/main" id="{F0B8B324-43F6-43D2-BEBE-D55F2B991DC1}"/>
              </a:ext>
            </a:extLst>
          </p:cNvPr>
          <p:cNvSpPr>
            <a:spLocks xmlns:a="http://schemas.openxmlformats.org/drawingml/2006/main" noGrp="1"/>
          </p:cNvSpPr>
          <p:nvPr/>
        </p:nvSpPr>
        <p:spPr>
          <a:xfrm xmlns:a="http://schemas.openxmlformats.org/drawingml/2006/main">
            <a:off x="1428750" y="3810000"/>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Texas Instruments: MAX3232 SLLS410O.</a:t>
            </a:r>
          </a:p>
        </p:txBody>
      </p:sp>
      <p:sp>
        <p:nvSpPr>
          <p:cNvPr id="8" name="text-7">
            <a:extLst xmlns:a="http://schemas.openxmlformats.org/drawingml/2006/main">
              <a:ext uri="{FF2B5EF4-FFF2-40B4-BE49-F238E27FC236}">
                <a16:creationId xmlns:a16="http://schemas.microsoft.com/office/drawing/2014/main" id="{AB08AC68-1E99-4D6B-A592-AFEAB07B3A81}"/>
              </a:ext>
            </a:extLst>
          </p:cNvPr>
          <p:cNvSpPr>
            <a:spLocks xmlns:a="http://schemas.openxmlformats.org/drawingml/2006/main" noGrp="1"/>
          </p:cNvSpPr>
          <p:nvPr/>
        </p:nvSpPr>
        <p:spPr>
          <a:xfrm xmlns:a="http://schemas.openxmlformats.org/drawingml/2006/main">
            <a:off x="609600" y="4886325"/>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87F8C"/>
                </a:solidFill>
                <a:latin typeface="DejaVu Sans"/>
                <a:ea typeface="DejaVu Sans"/>
                <a:cs typeface="DejaVu Sans"/>
              </a:defRPr>
            </a:defPPr>
            <a:lvl1pPr>
              <a:defRPr sz="1725" b="1">
                <a:solidFill>
                  <a:srgbClr val="087F8C"/>
                </a:solidFill>
                <a:latin typeface="DejaVu Sans"/>
                <a:ea typeface="DejaVu Sans"/>
                <a:cs typeface="DejaVu Sans"/>
              </a:defRPr>
            </a:lvl1pPr>
            <a:lvl2pPr>
              <a:defRPr sz="1725" b="1">
                <a:solidFill>
                  <a:srgbClr val="087F8C"/>
                </a:solidFill>
                <a:latin typeface="DejaVu Sans"/>
                <a:ea typeface="DejaVu Sans"/>
                <a:cs typeface="DejaVu Sans"/>
              </a:defRPr>
            </a:lvl2pPr>
            <a:lvl3pPr>
              <a:defRPr sz="1725" b="1">
                <a:solidFill>
                  <a:srgbClr val="087F8C"/>
                </a:solidFill>
                <a:latin typeface="DejaVu Sans"/>
                <a:ea typeface="DejaVu Sans"/>
                <a:cs typeface="DejaVu Sans"/>
              </a:defRPr>
            </a:lvl3pPr>
            <a:lvl4pPr>
              <a:defRPr sz="1725" b="1">
                <a:solidFill>
                  <a:srgbClr val="087F8C"/>
                </a:solidFill>
                <a:latin typeface="DejaVu Sans"/>
                <a:ea typeface="DejaVu Sans"/>
                <a:cs typeface="DejaVu Sans"/>
              </a:defRPr>
            </a:lvl4pPr>
            <a:lvl5pPr>
              <a:defRPr sz="1725" b="1">
                <a:solidFill>
                  <a:srgbClr val="087F8C"/>
                </a:solidFill>
                <a:latin typeface="DejaVu Sans"/>
                <a:ea typeface="DejaVu Sans"/>
                <a:cs typeface="DejaVu Sans"/>
              </a:defRPr>
            </a:lvl5pPr>
            <a:lvl6pPr>
              <a:defRPr sz="1725" b="1">
                <a:solidFill>
                  <a:srgbClr val="087F8C"/>
                </a:solidFill>
                <a:latin typeface="DejaVu Sans"/>
                <a:ea typeface="DejaVu Sans"/>
                <a:cs typeface="DejaVu Sans"/>
              </a:defRPr>
            </a:lvl6pPr>
            <a:lvl7pPr>
              <a:defRPr sz="1725" b="1">
                <a:solidFill>
                  <a:srgbClr val="087F8C"/>
                </a:solidFill>
                <a:latin typeface="DejaVu Sans"/>
                <a:ea typeface="DejaVu Sans"/>
                <a:cs typeface="DejaVu Sans"/>
              </a:defRPr>
            </a:lvl7pPr>
            <a:lvl8pPr>
              <a:defRPr sz="1725" b="1">
                <a:solidFill>
                  <a:srgbClr val="087F8C"/>
                </a:solidFill>
                <a:latin typeface="DejaVu Sans"/>
                <a:ea typeface="DejaVu Sans"/>
                <a:cs typeface="DejaVu Sans"/>
              </a:defRPr>
            </a:lvl8pPr>
            <a:lvl9pPr>
              <a:defRPr sz="1725" b="1">
                <a:solidFill>
                  <a:srgbClr val="087F8C"/>
                </a:solidFill>
                <a:latin typeface="DejaVu Sans"/>
                <a:ea typeface="DejaVu Sans"/>
                <a:cs typeface="DejaVu Sans"/>
              </a:defRPr>
            </a:lvl9pPr>
          </a:lstStyle>
          <a:p xmlns:a="http://schemas.openxmlformats.org/drawingml/2006/main">
            <a:pPr>
              <a:defRPr sz="1725" b="1">
                <a:solidFill>
                  <a:srgbClr val="087F8C"/>
                </a:solidFill>
                <a:latin typeface="DejaVu Sans"/>
                <a:ea typeface="DejaVu Sans"/>
                <a:cs typeface="DejaVu Sans"/>
              </a:defRPr>
            </a:pPr>
            <a:r>
              <a:rPr sz="1725" b="1">
                <a:solidFill>
                  <a:srgbClr val="087F8C"/>
                </a:solidFill>
                <a:latin typeface="DejaVu Sans"/>
                <a:ea typeface="DejaVu Sans"/>
                <a:cs typeface="DejaVu Sans"/>
              </a:rPr>
              <a:t>04</a:t>
            </a:r>
          </a:p>
        </p:txBody>
      </p:sp>
      <p:sp>
        <p:nvSpPr>
          <p:cNvPr id="9" name="text-8">
            <a:extLst xmlns:a="http://schemas.openxmlformats.org/drawingml/2006/main">
              <a:ext uri="{FF2B5EF4-FFF2-40B4-BE49-F238E27FC236}">
                <a16:creationId xmlns:a16="http://schemas.microsoft.com/office/drawing/2014/main" id="{B2894521-6A1C-4114-9AEE-C562BC985A9F}"/>
              </a:ext>
            </a:extLst>
          </p:cNvPr>
          <p:cNvSpPr>
            <a:spLocks xmlns:a="http://schemas.openxmlformats.org/drawingml/2006/main" noGrp="1"/>
          </p:cNvSpPr>
          <p:nvPr/>
        </p:nvSpPr>
        <p:spPr>
          <a:xfrm xmlns:a="http://schemas.openxmlformats.org/drawingml/2006/main">
            <a:off x="1428750" y="481012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53049"/>
                </a:solidFill>
                <a:latin typeface="DejaVu Sans"/>
                <a:ea typeface="DejaVu Sans"/>
                <a:cs typeface="DejaVu Sans"/>
              </a:defRPr>
            </a:defPPr>
            <a:lvl1pPr>
              <a:defRPr sz="2250" b="0">
                <a:solidFill>
                  <a:srgbClr val="153049"/>
                </a:solidFill>
                <a:latin typeface="DejaVu Sans"/>
                <a:ea typeface="DejaVu Sans"/>
                <a:cs typeface="DejaVu Sans"/>
              </a:defRPr>
            </a:lvl1pPr>
            <a:lvl2pPr>
              <a:defRPr sz="2250" b="0">
                <a:solidFill>
                  <a:srgbClr val="153049"/>
                </a:solidFill>
                <a:latin typeface="DejaVu Sans"/>
                <a:ea typeface="DejaVu Sans"/>
                <a:cs typeface="DejaVu Sans"/>
              </a:defRPr>
            </a:lvl2pPr>
            <a:lvl3pPr>
              <a:defRPr sz="2250" b="0">
                <a:solidFill>
                  <a:srgbClr val="153049"/>
                </a:solidFill>
                <a:latin typeface="DejaVu Sans"/>
                <a:ea typeface="DejaVu Sans"/>
                <a:cs typeface="DejaVu Sans"/>
              </a:defRPr>
            </a:lvl3pPr>
            <a:lvl4pPr>
              <a:defRPr sz="2250" b="0">
                <a:solidFill>
                  <a:srgbClr val="153049"/>
                </a:solidFill>
                <a:latin typeface="DejaVu Sans"/>
                <a:ea typeface="DejaVu Sans"/>
                <a:cs typeface="DejaVu Sans"/>
              </a:defRPr>
            </a:lvl4pPr>
            <a:lvl5pPr>
              <a:defRPr sz="2250" b="0">
                <a:solidFill>
                  <a:srgbClr val="153049"/>
                </a:solidFill>
                <a:latin typeface="DejaVu Sans"/>
                <a:ea typeface="DejaVu Sans"/>
                <a:cs typeface="DejaVu Sans"/>
              </a:defRPr>
            </a:lvl5pPr>
            <a:lvl6pPr>
              <a:defRPr sz="2250" b="0">
                <a:solidFill>
                  <a:srgbClr val="153049"/>
                </a:solidFill>
                <a:latin typeface="DejaVu Sans"/>
                <a:ea typeface="DejaVu Sans"/>
                <a:cs typeface="DejaVu Sans"/>
              </a:defRPr>
            </a:lvl6pPr>
            <a:lvl7pPr>
              <a:defRPr sz="2250" b="0">
                <a:solidFill>
                  <a:srgbClr val="153049"/>
                </a:solidFill>
                <a:latin typeface="DejaVu Sans"/>
                <a:ea typeface="DejaVu Sans"/>
                <a:cs typeface="DejaVu Sans"/>
              </a:defRPr>
            </a:lvl7pPr>
            <a:lvl8pPr>
              <a:defRPr sz="2250" b="0">
                <a:solidFill>
                  <a:srgbClr val="153049"/>
                </a:solidFill>
                <a:latin typeface="DejaVu Sans"/>
                <a:ea typeface="DejaVu Sans"/>
                <a:cs typeface="DejaVu Sans"/>
              </a:defRPr>
            </a:lvl8pPr>
            <a:lvl9pPr>
              <a:defRPr sz="2250" b="0">
                <a:solidFill>
                  <a:srgbClr val="153049"/>
                </a:solidFill>
                <a:latin typeface="DejaVu Sans"/>
                <a:ea typeface="DejaVu Sans"/>
                <a:cs typeface="DejaVu Sans"/>
              </a:defRPr>
            </a:lvl9pPr>
          </a:lstStyle>
          <a:p xmlns:a="http://schemas.openxmlformats.org/drawingml/2006/main">
            <a:pPr>
              <a:defRPr sz="2250" b="0">
                <a:solidFill>
                  <a:srgbClr val="153049"/>
                </a:solidFill>
                <a:latin typeface="DejaVu Sans"/>
                <a:ea typeface="DejaVu Sans"/>
                <a:cs typeface="DejaVu Sans"/>
              </a:defRPr>
            </a:pPr>
            <a:r>
              <a:rPr sz="2250" b="0">
                <a:solidFill>
                  <a:srgbClr val="153049"/>
                </a:solidFill>
                <a:latin typeface="DejaVu Sans"/>
                <a:ea typeface="DejaVu Sans"/>
                <a:cs typeface="DejaVu Sans"/>
              </a:rPr>
              <a:t>Analog Devices: Fundamentals of RS-232 Serial Communications.</a:t>
            </a:r>
          </a:p>
        </p:txBody>
      </p:sp>
      <p:sp>
        <p:nvSpPr>
          <p:cNvPr id="10" name="text-9">
            <a:extLst xmlns:a="http://schemas.openxmlformats.org/drawingml/2006/main">
              <a:ext uri="{FF2B5EF4-FFF2-40B4-BE49-F238E27FC236}">
                <a16:creationId xmlns:a16="http://schemas.microsoft.com/office/drawing/2014/main" id="{7E4C79A3-5614-40CA-A17F-4DE0E2BFFD12}"/>
              </a:ext>
            </a:extLst>
          </p:cNvPr>
          <p:cNvSpPr>
            <a:spLocks xmlns:a="http://schemas.openxmlformats.org/drawingml/2006/main" noGrp="1"/>
          </p:cNvSpPr>
          <p:nvPr/>
        </p:nvSpPr>
        <p:spPr>
          <a:xfrm xmlns:a="http://schemas.openxmlformats.org/drawingml/2006/main">
            <a:off x="10668000" y="6467475"/>
            <a:ext cx="1047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57086"/>
                </a:solidFill>
                <a:latin typeface="DejaVu Sans"/>
                <a:ea typeface="DejaVu Sans"/>
                <a:cs typeface="DejaVu Sans"/>
              </a:defRPr>
            </a:defPPr>
            <a:lvl1pPr>
              <a:defRPr sz="1050" b="0">
                <a:solidFill>
                  <a:srgbClr val="557086"/>
                </a:solidFill>
                <a:latin typeface="DejaVu Sans"/>
                <a:ea typeface="DejaVu Sans"/>
                <a:cs typeface="DejaVu Sans"/>
              </a:defRPr>
            </a:lvl1pPr>
            <a:lvl2pPr>
              <a:defRPr sz="1050" b="0">
                <a:solidFill>
                  <a:srgbClr val="557086"/>
                </a:solidFill>
                <a:latin typeface="DejaVu Sans"/>
                <a:ea typeface="DejaVu Sans"/>
                <a:cs typeface="DejaVu Sans"/>
              </a:defRPr>
            </a:lvl2pPr>
            <a:lvl3pPr>
              <a:defRPr sz="1050" b="0">
                <a:solidFill>
                  <a:srgbClr val="557086"/>
                </a:solidFill>
                <a:latin typeface="DejaVu Sans"/>
                <a:ea typeface="DejaVu Sans"/>
                <a:cs typeface="DejaVu Sans"/>
              </a:defRPr>
            </a:lvl3pPr>
            <a:lvl4pPr>
              <a:defRPr sz="1050" b="0">
                <a:solidFill>
                  <a:srgbClr val="557086"/>
                </a:solidFill>
                <a:latin typeface="DejaVu Sans"/>
                <a:ea typeface="DejaVu Sans"/>
                <a:cs typeface="DejaVu Sans"/>
              </a:defRPr>
            </a:lvl4pPr>
            <a:lvl5pPr>
              <a:defRPr sz="1050" b="0">
                <a:solidFill>
                  <a:srgbClr val="557086"/>
                </a:solidFill>
                <a:latin typeface="DejaVu Sans"/>
                <a:ea typeface="DejaVu Sans"/>
                <a:cs typeface="DejaVu Sans"/>
              </a:defRPr>
            </a:lvl5pPr>
            <a:lvl6pPr>
              <a:defRPr sz="1050" b="0">
                <a:solidFill>
                  <a:srgbClr val="557086"/>
                </a:solidFill>
                <a:latin typeface="DejaVu Sans"/>
                <a:ea typeface="DejaVu Sans"/>
                <a:cs typeface="DejaVu Sans"/>
              </a:defRPr>
            </a:lvl6pPr>
            <a:lvl7pPr>
              <a:defRPr sz="1050" b="0">
                <a:solidFill>
                  <a:srgbClr val="557086"/>
                </a:solidFill>
                <a:latin typeface="DejaVu Sans"/>
                <a:ea typeface="DejaVu Sans"/>
                <a:cs typeface="DejaVu Sans"/>
              </a:defRPr>
            </a:lvl7pPr>
            <a:lvl8pPr>
              <a:defRPr sz="1050" b="0">
                <a:solidFill>
                  <a:srgbClr val="557086"/>
                </a:solidFill>
                <a:latin typeface="DejaVu Sans"/>
                <a:ea typeface="DejaVu Sans"/>
                <a:cs typeface="DejaVu Sans"/>
              </a:defRPr>
            </a:lvl8pPr>
            <a:lvl9pPr>
              <a:defRPr sz="1050" b="0">
                <a:solidFill>
                  <a:srgbClr val="557086"/>
                </a:solidFill>
                <a:latin typeface="DejaVu Sans"/>
                <a:ea typeface="DejaVu Sans"/>
                <a:cs typeface="DejaVu Sans"/>
              </a:defRPr>
            </a:lvl9pPr>
          </a:lstStyle>
          <a:p xmlns:a="http://schemas.openxmlformats.org/drawingml/2006/main">
            <a:pPr>
              <a:defRPr sz="1050" b="0">
                <a:solidFill>
                  <a:srgbClr val="557086"/>
                </a:solidFill>
                <a:latin typeface="DejaVu Sans"/>
                <a:ea typeface="DejaVu Sans"/>
                <a:cs typeface="DejaVu Sans"/>
              </a:defRPr>
            </a:pPr>
            <a:r>
              <a:rPr sz="1050" b="0">
                <a:solidFill>
                  <a:srgbClr val="557086"/>
                </a:solidFill>
                <a:latin typeface="DejaVu Sans"/>
                <a:ea typeface="DejaVu Sans"/>
                <a:cs typeface="DejaVu Sans"/>
              </a:rPr>
              <a:t>29 / 29</a:t>
            </a:r>
          </a:p>
        </p:txBody>
      </p:sp>
    </p:spTree>
    <p:extLst>
      <p:ext uri="{BB962C8B-B14F-4D97-AF65-F5344CB8AC3E}">
        <p14:creationId xmlns:p14="http://schemas.microsoft.com/office/powerpoint/2010/main" val="729755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2026-10-27T00:24:32.1410000Z</dcterms:created>
  <dcterms:modified xsi:type="dcterms:W3CDTF">2026-10-27T00:24:32.1410000Z</dcterms:modified>
</coreProperties>
</file>